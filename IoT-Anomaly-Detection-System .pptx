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DM Sans" pitchFamily="2"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713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E5E3"/>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E5E3"/>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4A5F73"/>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2F2F2"/>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4A5F73"/>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4A5F73"/>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E5E3"/>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2F2F2"/>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857386" y="2875220"/>
            <a:ext cx="4722763" cy="487947"/>
          </a:xfrm>
          <a:prstGeom prst="rect">
            <a:avLst/>
          </a:prstGeom>
          <a:noFill/>
          <a:ln/>
        </p:spPr>
        <p:txBody>
          <a:bodyPr wrap="square" lIns="0" tIns="0" rIns="0" bIns="0" rtlCol="0" anchor="t"/>
          <a:lstStyle/>
          <a:p>
            <a:pPr algn="ctr"/>
            <a:r>
              <a:rPr lang="en-US" sz="1200" dirty="0">
                <a:solidFill>
                  <a:srgbClr val="171717"/>
                </a:solidFill>
                <a:latin typeface="DM Sans" pitchFamily="2" charset="0"/>
                <a:ea typeface="Space Grotesk Medium" pitchFamily="34" charset="-122"/>
                <a:cs typeface="Space Grotesk Medium" pitchFamily="34" charset="-120"/>
              </a:rPr>
              <a:t>IoT Anomaly Detection System </a:t>
            </a:r>
            <a:r>
              <a:rPr lang="en-US" sz="1200" dirty="0">
                <a:solidFill>
                  <a:srgbClr val="2A2A2A"/>
                </a:solidFill>
                <a:latin typeface="DM Sans" pitchFamily="2" charset="0"/>
                <a:ea typeface="DM Sans" pitchFamily="34" charset="-122"/>
                <a:cs typeface="Times New Roman" panose="02020603050405020304" pitchFamily="18" charset="0"/>
              </a:rPr>
              <a:t>Using Unsupervised Machine Learning &amp; Multi-Stage </a:t>
            </a:r>
            <a:r>
              <a:rPr lang="en-US" sz="1400" dirty="0">
                <a:solidFill>
                  <a:srgbClr val="2A2A2A"/>
                </a:solidFill>
                <a:latin typeface="DM Sans" pitchFamily="2" charset="0"/>
                <a:ea typeface="DM Sans" pitchFamily="34" charset="-122"/>
                <a:cs typeface="Times New Roman" panose="02020603050405020304" pitchFamily="18" charset="0"/>
              </a:rPr>
              <a:t>Data</a:t>
            </a:r>
            <a:r>
              <a:rPr lang="en-US" sz="1200" dirty="0">
                <a:solidFill>
                  <a:srgbClr val="2A2A2A"/>
                </a:solidFill>
                <a:latin typeface="DM Sans" pitchFamily="2" charset="0"/>
                <a:ea typeface="DM Sans" pitchFamily="34" charset="-122"/>
                <a:cs typeface="Times New Roman" panose="02020603050405020304" pitchFamily="18" charset="0"/>
              </a:rPr>
              <a:t> Pipeline</a:t>
            </a:r>
            <a:endParaRPr lang="en-US" sz="1200" dirty="0">
              <a:latin typeface="DM Sans" pitchFamily="2" charset="0"/>
            </a:endParaRPr>
          </a:p>
          <a:p>
            <a:pPr marL="0" indent="0" algn="l">
              <a:buNone/>
            </a:pPr>
            <a:endParaRPr lang="en-US" sz="1200" dirty="0">
              <a:latin typeface="DM Sans" pitchFamily="2" charset="0"/>
            </a:endParaRPr>
          </a:p>
        </p:txBody>
      </p:sp>
      <p:sp>
        <p:nvSpPr>
          <p:cNvPr id="4" name="Text 1"/>
          <p:cNvSpPr/>
          <p:nvPr/>
        </p:nvSpPr>
        <p:spPr>
          <a:xfrm>
            <a:off x="3857386" y="3791467"/>
            <a:ext cx="1906722" cy="563785"/>
          </a:xfrm>
          <a:prstGeom prst="rect">
            <a:avLst/>
          </a:prstGeom>
          <a:noFill/>
          <a:ln/>
        </p:spPr>
        <p:txBody>
          <a:bodyPr wrap="none" lIns="0" tIns="0" rIns="0" bIns="0" rtlCol="0" anchor="t"/>
          <a:lstStyle/>
          <a:p>
            <a:pPr marL="0" indent="0" algn="l">
              <a:buNone/>
            </a:pPr>
            <a:r>
              <a:rPr lang="en-US" sz="1000" b="1" u="sng" dirty="0">
                <a:solidFill>
                  <a:srgbClr val="2A2A2A"/>
                </a:solidFill>
                <a:latin typeface="DM Sans" pitchFamily="34" charset="0"/>
                <a:ea typeface="DM Sans" pitchFamily="34" charset="-122"/>
                <a:cs typeface="Times New Roman" panose="02020603050405020304" pitchFamily="18" charset="0"/>
              </a:rPr>
              <a:t>PREPARED BY </a:t>
            </a:r>
            <a:r>
              <a:rPr lang="en-US" sz="1000" b="1" dirty="0">
                <a:solidFill>
                  <a:srgbClr val="2A2A2A"/>
                </a:solidFill>
                <a:latin typeface="DM Sans" pitchFamily="34" charset="0"/>
                <a:ea typeface="DM Sans" pitchFamily="34" charset="-122"/>
                <a:cs typeface="Times New Roman" panose="02020603050405020304" pitchFamily="18" charset="0"/>
              </a:rPr>
              <a:t>:</a:t>
            </a:r>
          </a:p>
          <a:p>
            <a:pPr marL="0" indent="0" algn="l">
              <a:lnSpc>
                <a:spcPct val="200000"/>
              </a:lnSpc>
              <a:buNone/>
            </a:pPr>
            <a:r>
              <a:rPr lang="en-US" sz="1000" b="1" dirty="0">
                <a:solidFill>
                  <a:srgbClr val="2A2A2A"/>
                </a:solidFill>
                <a:latin typeface="DM Sans" pitchFamily="34" charset="0"/>
                <a:ea typeface="DM Sans" pitchFamily="34" charset="-122"/>
                <a:cs typeface="Times New Roman" panose="02020603050405020304" pitchFamily="18" charset="0"/>
              </a:rPr>
              <a:t>Name:  Md. Shaon Khalifa </a:t>
            </a:r>
          </a:p>
          <a:p>
            <a:pPr marL="0" indent="0" algn="l">
              <a:buNone/>
            </a:pPr>
            <a:r>
              <a:rPr lang="en-US" sz="1000" b="1" dirty="0">
                <a:solidFill>
                  <a:srgbClr val="2A2A2A"/>
                </a:solidFill>
                <a:latin typeface="DM Sans" pitchFamily="34" charset="0"/>
                <a:ea typeface="DM Sans" pitchFamily="34" charset="-122"/>
                <a:cs typeface="Times New Roman" panose="02020603050405020304" pitchFamily="18" charset="0"/>
              </a:rPr>
              <a:t>ID :   251054 </a:t>
            </a:r>
            <a:endParaRPr lang="en-US" sz="1000" b="1" dirty="0"/>
          </a:p>
        </p:txBody>
      </p:sp>
      <p:pic>
        <p:nvPicPr>
          <p:cNvPr id="6" name="Picture 5">
            <a:extLst>
              <a:ext uri="{FF2B5EF4-FFF2-40B4-BE49-F238E27FC236}">
                <a16:creationId xmlns:a16="http://schemas.microsoft.com/office/drawing/2014/main" id="{E17B2AAF-33EE-3A2F-5ED6-6D8E0779C5E7}"/>
              </a:ext>
            </a:extLst>
          </p:cNvPr>
          <p:cNvPicPr>
            <a:picLocks noChangeAspect="1"/>
          </p:cNvPicPr>
          <p:nvPr/>
        </p:nvPicPr>
        <p:blipFill>
          <a:blip r:embed="rId4"/>
          <a:stretch>
            <a:fillRect/>
          </a:stretch>
        </p:blipFill>
        <p:spPr>
          <a:xfrm>
            <a:off x="5432213" y="303883"/>
            <a:ext cx="1167186" cy="1374402"/>
          </a:xfrm>
          <a:prstGeom prst="rect">
            <a:avLst/>
          </a:prstGeom>
        </p:spPr>
      </p:pic>
      <p:sp>
        <p:nvSpPr>
          <p:cNvPr id="10" name="TextBox 9">
            <a:extLst>
              <a:ext uri="{FF2B5EF4-FFF2-40B4-BE49-F238E27FC236}">
                <a16:creationId xmlns:a16="http://schemas.microsoft.com/office/drawing/2014/main" id="{6CBEB2E2-CD97-652F-C567-CC9EFB38D154}"/>
              </a:ext>
            </a:extLst>
          </p:cNvPr>
          <p:cNvSpPr txBox="1"/>
          <p:nvPr/>
        </p:nvSpPr>
        <p:spPr>
          <a:xfrm>
            <a:off x="6509174" y="3693775"/>
            <a:ext cx="2560319" cy="707886"/>
          </a:xfrm>
          <a:prstGeom prst="rect">
            <a:avLst/>
          </a:prstGeom>
          <a:noFill/>
        </p:spPr>
        <p:txBody>
          <a:bodyPr wrap="square">
            <a:spAutoFit/>
          </a:bodyPr>
          <a:lstStyle/>
          <a:p>
            <a:pPr marL="0" indent="0" algn="l">
              <a:buNone/>
            </a:pPr>
            <a:r>
              <a:rPr lang="en-US" sz="1000" b="1" u="sng" dirty="0">
                <a:solidFill>
                  <a:srgbClr val="2A2A2A"/>
                </a:solidFill>
                <a:latin typeface="DM Sans" pitchFamily="34" charset="0"/>
                <a:ea typeface="DM Sans" pitchFamily="34" charset="-122"/>
                <a:cs typeface="Times New Roman" panose="02020603050405020304" pitchFamily="18" charset="0"/>
              </a:rPr>
              <a:t>SUPERVISED BY </a:t>
            </a:r>
            <a:r>
              <a:rPr lang="en-US" sz="1000" b="1" dirty="0">
                <a:solidFill>
                  <a:srgbClr val="2A2A2A"/>
                </a:solidFill>
                <a:latin typeface="DM Sans" pitchFamily="34" charset="0"/>
                <a:ea typeface="DM Sans" pitchFamily="34" charset="-122"/>
                <a:cs typeface="Times New Roman" panose="02020603050405020304" pitchFamily="18" charset="0"/>
              </a:rPr>
              <a:t>:    </a:t>
            </a:r>
          </a:p>
          <a:p>
            <a:pPr marL="0" indent="0" algn="l">
              <a:lnSpc>
                <a:spcPct val="200000"/>
              </a:lnSpc>
              <a:buNone/>
            </a:pPr>
            <a:r>
              <a:rPr lang="en-US" sz="1000" b="1" dirty="0">
                <a:latin typeface="DM Sans" pitchFamily="2" charset="0"/>
              </a:rPr>
              <a:t>Dr. Jesmin Akhter</a:t>
            </a:r>
            <a:endParaRPr lang="en-US" sz="1000" b="1" dirty="0">
              <a:solidFill>
                <a:srgbClr val="2A2A2A"/>
              </a:solidFill>
              <a:latin typeface="DM Sans" pitchFamily="34" charset="0"/>
              <a:ea typeface="DM Sans" pitchFamily="34" charset="-122"/>
              <a:cs typeface="Times New Roman" panose="02020603050405020304" pitchFamily="18" charset="0"/>
            </a:endParaRPr>
          </a:p>
          <a:p>
            <a:r>
              <a:rPr lang="en-US" sz="1000" dirty="0">
                <a:latin typeface="DM Sans" pitchFamily="2" charset="0"/>
              </a:rPr>
              <a:t>Professor, IIT, JU </a:t>
            </a:r>
          </a:p>
        </p:txBody>
      </p:sp>
      <p:sp>
        <p:nvSpPr>
          <p:cNvPr id="11" name="TextBox 10">
            <a:extLst>
              <a:ext uri="{FF2B5EF4-FFF2-40B4-BE49-F238E27FC236}">
                <a16:creationId xmlns:a16="http://schemas.microsoft.com/office/drawing/2014/main" id="{4AE56347-9840-487A-F9DE-02CD4D13DF4C}"/>
              </a:ext>
            </a:extLst>
          </p:cNvPr>
          <p:cNvSpPr txBox="1"/>
          <p:nvPr/>
        </p:nvSpPr>
        <p:spPr>
          <a:xfrm>
            <a:off x="5317067" y="4605311"/>
            <a:ext cx="2120053" cy="253916"/>
          </a:xfrm>
          <a:prstGeom prst="rect">
            <a:avLst/>
          </a:prstGeom>
          <a:noFill/>
        </p:spPr>
        <p:txBody>
          <a:bodyPr wrap="square" rtlCol="0">
            <a:spAutoFit/>
          </a:bodyPr>
          <a:lstStyle/>
          <a:p>
            <a:r>
              <a:rPr lang="en-US" sz="1050" dirty="0">
                <a:latin typeface="DM Sans" pitchFamily="2" charset="0"/>
              </a:rPr>
              <a:t>Date:  8</a:t>
            </a:r>
            <a:r>
              <a:rPr lang="en-US" sz="1050" baseline="30000" dirty="0">
                <a:latin typeface="DM Sans" pitchFamily="2" charset="0"/>
              </a:rPr>
              <a:t>th</a:t>
            </a:r>
            <a:r>
              <a:rPr lang="en-US" sz="1050" dirty="0">
                <a:latin typeface="DM Sans" pitchFamily="2" charset="0"/>
              </a:rPr>
              <a:t>  May 2026</a:t>
            </a:r>
          </a:p>
        </p:txBody>
      </p:sp>
      <p:sp>
        <p:nvSpPr>
          <p:cNvPr id="12" name="TextBox 11">
            <a:extLst>
              <a:ext uri="{FF2B5EF4-FFF2-40B4-BE49-F238E27FC236}">
                <a16:creationId xmlns:a16="http://schemas.microsoft.com/office/drawing/2014/main" id="{927CED96-B1D9-3691-7BEB-0CEF12560183}"/>
              </a:ext>
            </a:extLst>
          </p:cNvPr>
          <p:cNvSpPr txBox="1"/>
          <p:nvPr/>
        </p:nvSpPr>
        <p:spPr>
          <a:xfrm>
            <a:off x="4162213" y="2136146"/>
            <a:ext cx="3738880" cy="523220"/>
          </a:xfrm>
          <a:prstGeom prst="rect">
            <a:avLst/>
          </a:prstGeom>
          <a:noFill/>
        </p:spPr>
        <p:txBody>
          <a:bodyPr wrap="square" rtlCol="0">
            <a:spAutoFit/>
          </a:bodyPr>
          <a:lstStyle/>
          <a:p>
            <a:pPr algn="ctr"/>
            <a:r>
              <a:rPr lang="en-US" sz="1400" dirty="0">
                <a:latin typeface="DM Sans" pitchFamily="2" charset="0"/>
              </a:rPr>
              <a:t>PRESENTATION  </a:t>
            </a:r>
          </a:p>
          <a:p>
            <a:pPr algn="ctr"/>
            <a:r>
              <a:rPr lang="en-US" sz="1400" dirty="0">
                <a:latin typeface="DM Sans" pitchFamily="2" charset="0"/>
              </a:rPr>
              <a:t> </a:t>
            </a:r>
            <a:r>
              <a:rPr lang="en-US" sz="1000" dirty="0">
                <a:latin typeface="DM Sans" pitchFamily="2" charset="0"/>
              </a:rPr>
              <a:t>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496119" y="392832"/>
            <a:ext cx="785068" cy="227707"/>
          </a:xfrm>
          <a:prstGeom prst="roundRect">
            <a:avLst>
              <a:gd name="adj" fmla="val 7098"/>
            </a:avLst>
          </a:prstGeom>
          <a:solidFill>
            <a:srgbClr val="E6E6E6"/>
          </a:solidFill>
          <a:ln/>
        </p:spPr>
      </p:sp>
      <p:sp>
        <p:nvSpPr>
          <p:cNvPr id="4" name="Text 1"/>
          <p:cNvSpPr/>
          <p:nvPr/>
        </p:nvSpPr>
        <p:spPr>
          <a:xfrm>
            <a:off x="576858" y="433164"/>
            <a:ext cx="623590" cy="147042"/>
          </a:xfrm>
          <a:prstGeom prst="rect">
            <a:avLst/>
          </a:prstGeom>
          <a:noFill/>
          <a:ln/>
        </p:spPr>
        <p:txBody>
          <a:bodyPr wrap="none" lIns="0" tIns="0" rIns="0" bIns="0" rtlCol="0" anchor="t"/>
          <a:lstStyle/>
          <a:p>
            <a:pPr marL="0" indent="0" algn="l">
              <a:lnSpc>
                <a:spcPts val="1150"/>
              </a:lnSpc>
              <a:buNone/>
            </a:pPr>
            <a:r>
              <a:rPr lang="en-US" sz="800" dirty="0">
                <a:solidFill>
                  <a:srgbClr val="2A2A2A"/>
                </a:solidFill>
                <a:latin typeface="DM Sans" pitchFamily="2" charset="0"/>
                <a:ea typeface="DM Sans" pitchFamily="34" charset="-122"/>
                <a:cs typeface="Times New Roman" panose="02020603050405020304" pitchFamily="18" charset="0"/>
              </a:rPr>
              <a:t>MOTIVATION</a:t>
            </a:r>
            <a:endParaRPr lang="en-US" sz="800" dirty="0">
              <a:latin typeface="DM Sans" pitchFamily="2" charset="0"/>
            </a:endParaRPr>
          </a:p>
        </p:txBody>
      </p:sp>
      <p:sp>
        <p:nvSpPr>
          <p:cNvPr id="5" name="Text 2"/>
          <p:cNvSpPr/>
          <p:nvPr/>
        </p:nvSpPr>
        <p:spPr>
          <a:xfrm>
            <a:off x="496119" y="671661"/>
            <a:ext cx="4722763" cy="808137"/>
          </a:xfrm>
          <a:prstGeom prst="rect">
            <a:avLst/>
          </a:prstGeom>
          <a:noFill/>
          <a:ln/>
        </p:spPr>
        <p:txBody>
          <a:bodyPr wrap="square" lIns="0" tIns="0" rIns="0" bIns="0" rtlCol="0" anchor="t"/>
          <a:lstStyle/>
          <a:p>
            <a:pPr marL="0" indent="0" algn="l">
              <a:lnSpc>
                <a:spcPts val="3150"/>
              </a:lnSpc>
              <a:buNone/>
            </a:pPr>
            <a:r>
              <a:rPr lang="en-US" sz="2650" dirty="0">
                <a:solidFill>
                  <a:srgbClr val="171717"/>
                </a:solidFill>
                <a:latin typeface="DM Sans" pitchFamily="2" charset="0"/>
                <a:ea typeface="Space Grotesk Medium" pitchFamily="34" charset="-122"/>
                <a:cs typeface="Space Grotesk Medium" pitchFamily="34" charset="-120"/>
              </a:rPr>
              <a:t>Problem Statement &amp; Motivation</a:t>
            </a:r>
            <a:endParaRPr lang="en-US" sz="2650" dirty="0">
              <a:latin typeface="DM Sans" pitchFamily="2" charset="0"/>
            </a:endParaRPr>
          </a:p>
        </p:txBody>
      </p:sp>
      <p:sp>
        <p:nvSpPr>
          <p:cNvPr id="6" name="Text 3"/>
          <p:cNvSpPr/>
          <p:nvPr/>
        </p:nvSpPr>
        <p:spPr>
          <a:xfrm>
            <a:off x="496119" y="1530921"/>
            <a:ext cx="2241649" cy="201960"/>
          </a:xfrm>
          <a:prstGeom prst="rect">
            <a:avLst/>
          </a:prstGeom>
          <a:noFill/>
          <a:ln/>
        </p:spPr>
        <p:txBody>
          <a:bodyPr wrap="none" lIns="0" tIns="0" rIns="0" bIns="0" rtlCol="0" anchor="t"/>
          <a:lstStyle/>
          <a:p>
            <a:pPr marL="0" indent="0" algn="l">
              <a:lnSpc>
                <a:spcPts val="1550"/>
              </a:lnSpc>
              <a:buNone/>
            </a:pPr>
            <a:r>
              <a:rPr lang="en-US" sz="1300" dirty="0">
                <a:solidFill>
                  <a:srgbClr val="171717"/>
                </a:solidFill>
                <a:latin typeface="DM Sans" pitchFamily="2" charset="0"/>
                <a:ea typeface="Space Grotesk Medium" pitchFamily="34" charset="-122"/>
                <a:cs typeface="Space Grotesk Medium" pitchFamily="34" charset="-120"/>
              </a:rPr>
              <a:t>The Industrial IoT Challenge</a:t>
            </a:r>
            <a:endParaRPr lang="en-US" sz="1300" dirty="0">
              <a:latin typeface="DM Sans" pitchFamily="2" charset="0"/>
            </a:endParaRPr>
          </a:p>
        </p:txBody>
      </p:sp>
      <p:sp>
        <p:nvSpPr>
          <p:cNvPr id="7" name="Text 4"/>
          <p:cNvSpPr/>
          <p:nvPr/>
        </p:nvSpPr>
        <p:spPr>
          <a:xfrm>
            <a:off x="496119" y="1924794"/>
            <a:ext cx="4722763" cy="551408"/>
          </a:xfrm>
          <a:prstGeom prst="rect">
            <a:avLst/>
          </a:prstGeom>
          <a:noFill/>
          <a:ln/>
        </p:spPr>
        <p:txBody>
          <a:bodyPr wrap="square" lIns="0" tIns="0" rIns="0" bIns="0" rtlCol="0" anchor="t"/>
          <a:lstStyle/>
          <a:p>
            <a:pPr marL="0" indent="0" algn="l">
              <a:lnSpc>
                <a:spcPts val="1400"/>
              </a:lnSpc>
              <a:buNone/>
            </a:pPr>
            <a:r>
              <a:rPr lang="en-US" sz="1050" dirty="0">
                <a:solidFill>
                  <a:srgbClr val="2A2A2A"/>
                </a:solidFill>
                <a:latin typeface="DM Sans" pitchFamily="2" charset="0"/>
                <a:ea typeface="DM Sans" pitchFamily="34" charset="-122"/>
                <a:cs typeface="Times New Roman" panose="02020603050405020304" pitchFamily="18" charset="0"/>
              </a:rPr>
              <a:t>Industrial IoT environments generate massive, continuous streams of sensor data plagued by noise, missing values, and irregular patterns — making manual monitoring infeasible at scale.</a:t>
            </a:r>
            <a:endParaRPr lang="en-US" sz="1050" dirty="0">
              <a:latin typeface="DM Sans" pitchFamily="2" charset="0"/>
            </a:endParaRPr>
          </a:p>
        </p:txBody>
      </p:sp>
      <p:sp>
        <p:nvSpPr>
          <p:cNvPr id="8" name="Text 5"/>
          <p:cNvSpPr/>
          <p:nvPr/>
        </p:nvSpPr>
        <p:spPr>
          <a:xfrm>
            <a:off x="496119" y="2668116"/>
            <a:ext cx="2983260" cy="201960"/>
          </a:xfrm>
          <a:prstGeom prst="rect">
            <a:avLst/>
          </a:prstGeom>
          <a:noFill/>
          <a:ln/>
        </p:spPr>
        <p:txBody>
          <a:bodyPr wrap="none" lIns="0" tIns="0" rIns="0" bIns="0" rtlCol="0" anchor="t"/>
          <a:lstStyle/>
          <a:p>
            <a:pPr marL="0" indent="0" algn="l">
              <a:lnSpc>
                <a:spcPts val="1550"/>
              </a:lnSpc>
              <a:buNone/>
            </a:pPr>
            <a:r>
              <a:rPr lang="en-US" sz="1300" dirty="0">
                <a:solidFill>
                  <a:srgbClr val="171717"/>
                </a:solidFill>
                <a:latin typeface="DM Sans" pitchFamily="2" charset="0"/>
                <a:ea typeface="Space Grotesk Medium" pitchFamily="34" charset="-122"/>
                <a:cs typeface="Space Grotesk Medium" pitchFamily="34" charset="-120"/>
              </a:rPr>
              <a:t>Why Automated Anomaly Detection?</a:t>
            </a:r>
            <a:endParaRPr lang="en-US" sz="1300" dirty="0">
              <a:latin typeface="DM Sans" pitchFamily="2" charset="0"/>
            </a:endParaRPr>
          </a:p>
        </p:txBody>
      </p:sp>
      <p:sp>
        <p:nvSpPr>
          <p:cNvPr id="9" name="Text 6"/>
          <p:cNvSpPr/>
          <p:nvPr/>
        </p:nvSpPr>
        <p:spPr>
          <a:xfrm>
            <a:off x="496119" y="3061990"/>
            <a:ext cx="4722763" cy="551408"/>
          </a:xfrm>
          <a:prstGeom prst="rect">
            <a:avLst/>
          </a:prstGeom>
          <a:noFill/>
          <a:ln/>
        </p:spPr>
        <p:txBody>
          <a:bodyPr wrap="square" lIns="0" tIns="0" rIns="0" bIns="0" rtlCol="0" anchor="t"/>
          <a:lstStyle/>
          <a:p>
            <a:pPr marL="0" indent="0" algn="l">
              <a:lnSpc>
                <a:spcPts val="1400"/>
              </a:lnSpc>
              <a:buNone/>
            </a:pPr>
            <a:r>
              <a:rPr lang="en-US" sz="1050" dirty="0">
                <a:solidFill>
                  <a:srgbClr val="2A2A2A"/>
                </a:solidFill>
                <a:latin typeface="DM Sans" pitchFamily="2" charset="0"/>
                <a:ea typeface="DM Sans" pitchFamily="34" charset="-122"/>
                <a:cs typeface="Times New Roman" panose="02020603050405020304" pitchFamily="18" charset="0"/>
              </a:rPr>
              <a:t>Undetected anomalies in sensor data lead to equipment failure, safety incidents, and costly downtime. Automated, intelligent detection is no longer optional — it is operationally critical.</a:t>
            </a:r>
            <a:endParaRPr lang="en-US" sz="1050" dirty="0">
              <a:latin typeface="DM Sans" pitchFamily="2" charset="0"/>
            </a:endParaRPr>
          </a:p>
        </p:txBody>
      </p:sp>
      <p:sp>
        <p:nvSpPr>
          <p:cNvPr id="10" name="Text 7"/>
          <p:cNvSpPr/>
          <p:nvPr/>
        </p:nvSpPr>
        <p:spPr>
          <a:xfrm>
            <a:off x="496119" y="3805312"/>
            <a:ext cx="1683469" cy="201960"/>
          </a:xfrm>
          <a:prstGeom prst="rect">
            <a:avLst/>
          </a:prstGeom>
          <a:noFill/>
          <a:ln/>
        </p:spPr>
        <p:txBody>
          <a:bodyPr wrap="none" lIns="0" tIns="0" rIns="0" bIns="0" rtlCol="0" anchor="t"/>
          <a:lstStyle/>
          <a:p>
            <a:pPr marL="0" indent="0" algn="l">
              <a:lnSpc>
                <a:spcPts val="1550"/>
              </a:lnSpc>
              <a:buNone/>
            </a:pPr>
            <a:r>
              <a:rPr lang="en-US" sz="1300" dirty="0">
                <a:solidFill>
                  <a:srgbClr val="171717"/>
                </a:solidFill>
                <a:latin typeface="DM Sans" pitchFamily="2" charset="0"/>
                <a:ea typeface="Space Grotesk Medium" pitchFamily="34" charset="-122"/>
                <a:cs typeface="Space Grotesk Medium" pitchFamily="34" charset="-120"/>
              </a:rPr>
              <a:t>The Research Gap</a:t>
            </a:r>
            <a:endParaRPr lang="en-US" sz="1300" dirty="0">
              <a:latin typeface="DM Sans" pitchFamily="2" charset="0"/>
            </a:endParaRPr>
          </a:p>
        </p:txBody>
      </p:sp>
      <p:sp>
        <p:nvSpPr>
          <p:cNvPr id="11" name="Text 8"/>
          <p:cNvSpPr/>
          <p:nvPr/>
        </p:nvSpPr>
        <p:spPr>
          <a:xfrm>
            <a:off x="496119" y="4199186"/>
            <a:ext cx="4722763" cy="551408"/>
          </a:xfrm>
          <a:prstGeom prst="rect">
            <a:avLst/>
          </a:prstGeom>
          <a:noFill/>
          <a:ln/>
        </p:spPr>
        <p:txBody>
          <a:bodyPr wrap="square" lIns="0" tIns="0" rIns="0" bIns="0" rtlCol="0" anchor="t"/>
          <a:lstStyle/>
          <a:p>
            <a:pPr marL="0" indent="0" algn="l">
              <a:lnSpc>
                <a:spcPts val="1400"/>
              </a:lnSpc>
              <a:buNone/>
            </a:pPr>
            <a:r>
              <a:rPr lang="en-US" sz="1050" dirty="0">
                <a:solidFill>
                  <a:srgbClr val="2A2A2A"/>
                </a:solidFill>
                <a:latin typeface="DM Sans" pitchFamily="2" charset="0"/>
                <a:ea typeface="DM Sans" pitchFamily="34" charset="-122"/>
                <a:cs typeface="Times New Roman" panose="02020603050405020304" pitchFamily="18" charset="0"/>
              </a:rPr>
              <a:t>Existing supervised methods require labelled anomaly data, which is rarely available in industrial settings. This work addresses that gap using </a:t>
            </a:r>
            <a:r>
              <a:rPr lang="en-US" sz="1050" b="1" dirty="0">
                <a:solidFill>
                  <a:srgbClr val="2A2A2A"/>
                </a:solidFill>
                <a:latin typeface="DM Sans" pitchFamily="2" charset="0"/>
                <a:ea typeface="DM Sans" pitchFamily="34" charset="-122"/>
                <a:cs typeface="Times New Roman" panose="02020603050405020304" pitchFamily="18" charset="0"/>
              </a:rPr>
              <a:t>unsupervised machine learning</a:t>
            </a:r>
            <a:r>
              <a:rPr lang="en-US" sz="1050" dirty="0">
                <a:solidFill>
                  <a:srgbClr val="2A2A2A"/>
                </a:solidFill>
                <a:latin typeface="DM Sans" pitchFamily="2" charset="0"/>
                <a:ea typeface="DM Sans" pitchFamily="34" charset="-122"/>
                <a:cs typeface="Times New Roman" panose="02020603050405020304" pitchFamily="18" charset="0"/>
              </a:rPr>
              <a:t> on raw, unlabeled sensor streams.</a:t>
            </a:r>
            <a:endParaRPr lang="en-US" sz="1050" dirty="0">
              <a:latin typeface="DM Sans" pitchFamily="2" charset="0"/>
            </a:endParaRPr>
          </a:p>
        </p:txBody>
      </p:sp>
      <p:pic>
        <p:nvPicPr>
          <p:cNvPr id="12" name="Image 0" descr="preencoded.png">
            <a:extLst>
              <a:ext uri="{FF2B5EF4-FFF2-40B4-BE49-F238E27FC236}">
                <a16:creationId xmlns:a16="http://schemas.microsoft.com/office/drawing/2014/main" id="{1850F4E1-8E82-7434-7C05-ABA73E912C03}"/>
              </a:ext>
            </a:extLst>
          </p:cNvPr>
          <p:cNvPicPr>
            <a:picLocks noChangeAspect="1"/>
          </p:cNvPicPr>
          <p:nvPr/>
        </p:nvPicPr>
        <p:blipFill>
          <a:blip r:embed="rId4"/>
          <a:stretch>
            <a:fillRect/>
          </a:stretch>
        </p:blipFill>
        <p:spPr>
          <a:xfrm>
            <a:off x="5715000" y="0"/>
            <a:ext cx="3429000" cy="5143500"/>
          </a:xfrm>
          <a:prstGeom prst="rect">
            <a:avLst/>
          </a:prstGeom>
        </p:spPr>
      </p:pic>
      <p:pic>
        <p:nvPicPr>
          <p:cNvPr id="13" name="Image 1" descr="preencoded.png">
            <a:extLst>
              <a:ext uri="{FF2B5EF4-FFF2-40B4-BE49-F238E27FC236}">
                <a16:creationId xmlns:a16="http://schemas.microsoft.com/office/drawing/2014/main" id="{1D3B5DCE-98B0-E4FA-B930-5EB72347E6B4}"/>
              </a:ext>
            </a:extLst>
          </p:cNvPr>
          <p:cNvPicPr>
            <a:picLocks noChangeAspect="1"/>
          </p:cNvPicPr>
          <p:nvPr/>
        </p:nvPicPr>
        <p:blipFill>
          <a:blip r:embed="rId5"/>
          <a:stretch>
            <a:fillRect/>
          </a:stretch>
        </p:blipFill>
        <p:spPr>
          <a:xfrm>
            <a:off x="5785842" y="928092"/>
            <a:ext cx="3287316" cy="32873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4" name="Shape 0"/>
          <p:cNvSpPr/>
          <p:nvPr/>
        </p:nvSpPr>
        <p:spPr>
          <a:xfrm>
            <a:off x="3886349" y="480120"/>
            <a:ext cx="847427" cy="218926"/>
          </a:xfrm>
          <a:prstGeom prst="roundRect">
            <a:avLst>
              <a:gd name="adj" fmla="val 7164"/>
            </a:avLst>
          </a:prstGeom>
          <a:solidFill>
            <a:srgbClr val="262626"/>
          </a:solidFill>
          <a:ln/>
        </p:spPr>
      </p:sp>
      <p:sp>
        <p:nvSpPr>
          <p:cNvPr id="5" name="Text 1"/>
          <p:cNvSpPr/>
          <p:nvPr/>
        </p:nvSpPr>
        <p:spPr>
          <a:xfrm>
            <a:off x="3964707" y="519261"/>
            <a:ext cx="690711" cy="140643"/>
          </a:xfrm>
          <a:prstGeom prst="rect">
            <a:avLst/>
          </a:prstGeom>
          <a:noFill/>
          <a:ln/>
        </p:spPr>
        <p:txBody>
          <a:bodyPr wrap="none" lIns="0" tIns="0" rIns="0" bIns="0" rtlCol="0" anchor="t"/>
          <a:lstStyle/>
          <a:p>
            <a:pPr marL="0" indent="0" algn="l">
              <a:lnSpc>
                <a:spcPts val="1100"/>
              </a:lnSpc>
              <a:buNone/>
            </a:pPr>
            <a:r>
              <a:rPr lang="en-US" sz="800" dirty="0">
                <a:solidFill>
                  <a:srgbClr val="FFFFFF"/>
                </a:solidFill>
                <a:latin typeface="DM Sans" pitchFamily="2" charset="0"/>
                <a:ea typeface="DM Sans" pitchFamily="34" charset="-122"/>
                <a:cs typeface="Times New Roman" panose="02020603050405020304" pitchFamily="18" charset="0"/>
              </a:rPr>
              <a:t>DATA PIPELINE</a:t>
            </a:r>
            <a:endParaRPr lang="en-US" sz="800" dirty="0">
              <a:latin typeface="DM Sans" pitchFamily="2" charset="0"/>
            </a:endParaRPr>
          </a:p>
        </p:txBody>
      </p:sp>
      <p:sp>
        <p:nvSpPr>
          <p:cNvPr id="6" name="Text 2"/>
          <p:cNvSpPr/>
          <p:nvPr/>
        </p:nvSpPr>
        <p:spPr>
          <a:xfrm>
            <a:off x="3886349" y="747192"/>
            <a:ext cx="4800302" cy="784175"/>
          </a:xfrm>
          <a:prstGeom prst="rect">
            <a:avLst/>
          </a:prstGeom>
          <a:noFill/>
          <a:ln/>
        </p:spPr>
        <p:txBody>
          <a:bodyPr wrap="square" lIns="0" tIns="0" rIns="0" bIns="0" rtlCol="0" anchor="t"/>
          <a:lstStyle/>
          <a:p>
            <a:pPr marL="0" indent="0" algn="l">
              <a:lnSpc>
                <a:spcPts val="3050"/>
              </a:lnSpc>
              <a:buNone/>
            </a:pPr>
            <a:r>
              <a:rPr lang="en-US" sz="2550" dirty="0">
                <a:solidFill>
                  <a:srgbClr val="FFFFFF"/>
                </a:solidFill>
                <a:latin typeface="DM Sans" pitchFamily="2" charset="0"/>
                <a:ea typeface="Space Grotesk Medium" pitchFamily="34" charset="-122"/>
                <a:cs typeface="Space Grotesk Medium" pitchFamily="34" charset="-120"/>
              </a:rPr>
              <a:t>Multi-Stage Data Cleaning Pipeline</a:t>
            </a:r>
            <a:endParaRPr lang="en-US" sz="2550" dirty="0">
              <a:latin typeface="DM Sans" pitchFamily="2" charset="0"/>
            </a:endParaRPr>
          </a:p>
        </p:txBody>
      </p:sp>
      <p:pic>
        <p:nvPicPr>
          <p:cNvPr id="7" name="Image 2" descr="preencoded.png"/>
          <p:cNvPicPr>
            <a:picLocks noChangeAspect="1"/>
          </p:cNvPicPr>
          <p:nvPr/>
        </p:nvPicPr>
        <p:blipFill>
          <a:blip r:embed="rId4"/>
          <a:stretch>
            <a:fillRect/>
          </a:stretch>
        </p:blipFill>
        <p:spPr>
          <a:xfrm>
            <a:off x="3886349" y="1847552"/>
            <a:ext cx="2752651" cy="1032867"/>
          </a:xfrm>
          <a:prstGeom prst="rect">
            <a:avLst/>
          </a:prstGeom>
        </p:spPr>
      </p:pic>
      <p:pic>
        <p:nvPicPr>
          <p:cNvPr id="8"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7092" y="2110642"/>
            <a:ext cx="142179" cy="142178"/>
          </a:xfrm>
          <a:prstGeom prst="rect">
            <a:avLst/>
          </a:prstGeom>
        </p:spPr>
      </p:pic>
      <p:sp>
        <p:nvSpPr>
          <p:cNvPr id="9" name="Text 3"/>
          <p:cNvSpPr/>
          <p:nvPr/>
        </p:nvSpPr>
        <p:spPr>
          <a:xfrm>
            <a:off x="6110420" y="2631281"/>
            <a:ext cx="415161" cy="76776"/>
          </a:xfrm>
          <a:prstGeom prst="rect">
            <a:avLst/>
          </a:prstGeom>
          <a:noFill/>
          <a:ln/>
        </p:spPr>
        <p:txBody>
          <a:bodyPr wrap="none" lIns="0" tIns="0" rIns="0" bIns="0" rtlCol="0" anchor="t"/>
          <a:lstStyle/>
          <a:p>
            <a:pPr marL="0" indent="0" algn="ctr">
              <a:lnSpc>
                <a:spcPts val="600"/>
              </a:lnSpc>
              <a:buNone/>
            </a:pPr>
            <a:r>
              <a:rPr lang="en-US" sz="500" dirty="0">
                <a:solidFill>
                  <a:srgbClr val="FFFFFF"/>
                </a:solidFill>
                <a:latin typeface="DM Sans" pitchFamily="2" charset="0"/>
                <a:ea typeface="Space Grotesk Medium" pitchFamily="34" charset="-122"/>
                <a:cs typeface="Space Grotesk Medium" pitchFamily="34" charset="-120"/>
              </a:rPr>
              <a:t>Deduplicate</a:t>
            </a:r>
            <a:endParaRPr lang="en-US" sz="500" dirty="0">
              <a:latin typeface="DM Sans" pitchFamily="2" charset="0"/>
            </a:endParaRPr>
          </a:p>
        </p:txBody>
      </p:sp>
      <p:pic>
        <p:nvPicPr>
          <p:cNvPr id="10"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16587" y="2110909"/>
            <a:ext cx="142178" cy="142178"/>
          </a:xfrm>
          <a:prstGeom prst="rect">
            <a:avLst/>
          </a:prstGeom>
        </p:spPr>
      </p:pic>
      <p:sp>
        <p:nvSpPr>
          <p:cNvPr id="11" name="Text 4"/>
          <p:cNvSpPr/>
          <p:nvPr/>
        </p:nvSpPr>
        <p:spPr>
          <a:xfrm>
            <a:off x="5587204" y="2631281"/>
            <a:ext cx="415161" cy="76776"/>
          </a:xfrm>
          <a:prstGeom prst="rect">
            <a:avLst/>
          </a:prstGeom>
          <a:noFill/>
          <a:ln/>
        </p:spPr>
        <p:txBody>
          <a:bodyPr wrap="none" lIns="0" tIns="0" rIns="0" bIns="0" rtlCol="0" anchor="t"/>
          <a:lstStyle/>
          <a:p>
            <a:pPr marL="0" indent="0" algn="ctr">
              <a:lnSpc>
                <a:spcPts val="600"/>
              </a:lnSpc>
              <a:buNone/>
            </a:pPr>
            <a:r>
              <a:rPr lang="en-US" sz="500" dirty="0">
                <a:solidFill>
                  <a:srgbClr val="FFFFFF"/>
                </a:solidFill>
                <a:latin typeface="DM Sans" pitchFamily="2" charset="0"/>
                <a:ea typeface="Space Grotesk Medium" pitchFamily="34" charset="-122"/>
                <a:cs typeface="Space Grotesk Medium" pitchFamily="34" charset="-120"/>
              </a:rPr>
              <a:t>Annotate</a:t>
            </a:r>
            <a:endParaRPr lang="en-US" sz="500" dirty="0">
              <a:latin typeface="DM Sans" pitchFamily="2" charset="0"/>
            </a:endParaRPr>
          </a:p>
        </p:txBody>
      </p:sp>
      <p:pic>
        <p:nvPicPr>
          <p:cNvPr id="12"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96214" y="2110909"/>
            <a:ext cx="142179" cy="142178"/>
          </a:xfrm>
          <a:prstGeom prst="rect">
            <a:avLst/>
          </a:prstGeom>
        </p:spPr>
      </p:pic>
      <p:sp>
        <p:nvSpPr>
          <p:cNvPr id="13" name="Text 5"/>
          <p:cNvSpPr/>
          <p:nvPr/>
        </p:nvSpPr>
        <p:spPr>
          <a:xfrm>
            <a:off x="5066832" y="2631281"/>
            <a:ext cx="415161" cy="76776"/>
          </a:xfrm>
          <a:prstGeom prst="rect">
            <a:avLst/>
          </a:prstGeom>
          <a:noFill/>
          <a:ln/>
        </p:spPr>
        <p:txBody>
          <a:bodyPr wrap="none" lIns="0" tIns="0" rIns="0" bIns="0" rtlCol="0" anchor="t"/>
          <a:lstStyle/>
          <a:p>
            <a:pPr marL="0" indent="0" algn="ctr">
              <a:lnSpc>
                <a:spcPts val="600"/>
              </a:lnSpc>
              <a:buNone/>
            </a:pPr>
            <a:r>
              <a:rPr lang="en-US" sz="500" dirty="0">
                <a:solidFill>
                  <a:srgbClr val="FFFFFF"/>
                </a:solidFill>
                <a:latin typeface="DM Sans" pitchFamily="2" charset="0"/>
                <a:ea typeface="Space Grotesk Medium" pitchFamily="34" charset="-122"/>
                <a:cs typeface="Space Grotesk Medium" pitchFamily="34" charset="-120"/>
              </a:rPr>
              <a:t>Impute</a:t>
            </a:r>
            <a:endParaRPr lang="en-US" sz="500" dirty="0">
              <a:latin typeface="DM Sans" pitchFamily="2" charset="0"/>
            </a:endParaRPr>
          </a:p>
        </p:txBody>
      </p:sp>
      <p:pic>
        <p:nvPicPr>
          <p:cNvPr id="14"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75842" y="2110909"/>
            <a:ext cx="142179" cy="142178"/>
          </a:xfrm>
          <a:prstGeom prst="rect">
            <a:avLst/>
          </a:prstGeom>
        </p:spPr>
      </p:pic>
      <p:sp>
        <p:nvSpPr>
          <p:cNvPr id="15" name="Text 6"/>
          <p:cNvSpPr/>
          <p:nvPr/>
        </p:nvSpPr>
        <p:spPr>
          <a:xfrm>
            <a:off x="4546460" y="2631281"/>
            <a:ext cx="415160" cy="76776"/>
          </a:xfrm>
          <a:prstGeom prst="rect">
            <a:avLst/>
          </a:prstGeom>
          <a:noFill/>
          <a:ln/>
        </p:spPr>
        <p:txBody>
          <a:bodyPr wrap="none" lIns="0" tIns="0" rIns="0" bIns="0" rtlCol="0" anchor="t"/>
          <a:lstStyle/>
          <a:p>
            <a:pPr marL="0" indent="0" algn="ctr">
              <a:lnSpc>
                <a:spcPts val="600"/>
              </a:lnSpc>
              <a:buNone/>
            </a:pPr>
            <a:r>
              <a:rPr lang="en-US" sz="500" dirty="0">
                <a:solidFill>
                  <a:srgbClr val="FFFFFF"/>
                </a:solidFill>
                <a:latin typeface="DM Sans" pitchFamily="2" charset="0"/>
                <a:ea typeface="Space Grotesk Medium" pitchFamily="34" charset="-122"/>
                <a:cs typeface="Space Grotesk Medium" pitchFamily="34" charset="-120"/>
              </a:rPr>
              <a:t>Validate</a:t>
            </a:r>
            <a:endParaRPr lang="en-US" sz="500" dirty="0">
              <a:latin typeface="DM Sans" pitchFamily="2" charset="0"/>
            </a:endParaRPr>
          </a:p>
        </p:txBody>
      </p:sp>
      <p:pic>
        <p:nvPicPr>
          <p:cNvPr id="16"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52626" y="2110909"/>
            <a:ext cx="142178" cy="142178"/>
          </a:xfrm>
          <a:prstGeom prst="rect">
            <a:avLst/>
          </a:prstGeom>
        </p:spPr>
      </p:pic>
      <p:sp>
        <p:nvSpPr>
          <p:cNvPr id="17" name="Text 7"/>
          <p:cNvSpPr/>
          <p:nvPr/>
        </p:nvSpPr>
        <p:spPr>
          <a:xfrm>
            <a:off x="4014713" y="2631281"/>
            <a:ext cx="415160" cy="76776"/>
          </a:xfrm>
          <a:prstGeom prst="rect">
            <a:avLst/>
          </a:prstGeom>
          <a:noFill/>
          <a:ln/>
        </p:spPr>
        <p:txBody>
          <a:bodyPr wrap="none" lIns="0" tIns="0" rIns="0" bIns="0" rtlCol="0" anchor="t"/>
          <a:lstStyle/>
          <a:p>
            <a:pPr marL="0" indent="0" algn="ctr">
              <a:lnSpc>
                <a:spcPts val="600"/>
              </a:lnSpc>
              <a:buNone/>
            </a:pPr>
            <a:r>
              <a:rPr lang="en-US" sz="500" dirty="0">
                <a:solidFill>
                  <a:srgbClr val="FFFFFF"/>
                </a:solidFill>
                <a:latin typeface="DM Sans" pitchFamily="2" charset="0"/>
                <a:ea typeface="Space Grotesk Medium" pitchFamily="34" charset="-122"/>
                <a:cs typeface="Space Grotesk Medium" pitchFamily="34" charset="-120"/>
              </a:rPr>
              <a:t>Ingest</a:t>
            </a:r>
            <a:endParaRPr lang="en-US" sz="500" dirty="0">
              <a:latin typeface="DM Sans" pitchFamily="2" charset="0"/>
            </a:endParaRPr>
          </a:p>
        </p:txBody>
      </p:sp>
      <p:sp>
        <p:nvSpPr>
          <p:cNvPr id="18" name="Text 8"/>
          <p:cNvSpPr/>
          <p:nvPr/>
        </p:nvSpPr>
        <p:spPr>
          <a:xfrm>
            <a:off x="3886349" y="3015928"/>
            <a:ext cx="2752651" cy="703064"/>
          </a:xfrm>
          <a:prstGeom prst="rect">
            <a:avLst/>
          </a:prstGeom>
          <a:noFill/>
          <a:ln/>
        </p:spPr>
        <p:txBody>
          <a:bodyPr wrap="square" lIns="0" tIns="0" rIns="0" bIns="0" rtlCol="0" anchor="t"/>
          <a:lstStyle/>
          <a:p>
            <a:pPr marL="0" indent="0" algn="l">
              <a:lnSpc>
                <a:spcPts val="1350"/>
              </a:lnSpc>
              <a:buNone/>
            </a:pPr>
            <a:r>
              <a:rPr lang="en-US" sz="1000" dirty="0">
                <a:solidFill>
                  <a:srgbClr val="FFFFFF"/>
                </a:solidFill>
                <a:latin typeface="DM Sans" pitchFamily="2" charset="0"/>
                <a:ea typeface="DM Sans" pitchFamily="34" charset="-122"/>
                <a:cs typeface="Times New Roman" panose="02020603050405020304" pitchFamily="18" charset="0"/>
              </a:rPr>
              <a:t>Each stage acts as a quality gate, ensuring only clean, reliable sensor readings reach the machine learning layer — dramatically improving model accuracy and robustness.</a:t>
            </a:r>
            <a:endParaRPr lang="en-US" sz="1000" dirty="0">
              <a:latin typeface="DM Sans" pitchFamily="2" charset="0"/>
            </a:endParaRPr>
          </a:p>
        </p:txBody>
      </p:sp>
      <p:sp>
        <p:nvSpPr>
          <p:cNvPr id="19" name="Shape 9"/>
          <p:cNvSpPr/>
          <p:nvPr/>
        </p:nvSpPr>
        <p:spPr>
          <a:xfrm>
            <a:off x="6874956" y="1046359"/>
            <a:ext cx="1916906" cy="2951336"/>
          </a:xfrm>
          <a:prstGeom prst="roundRect">
            <a:avLst>
              <a:gd name="adj" fmla="val 1023"/>
            </a:avLst>
          </a:prstGeom>
          <a:solidFill>
            <a:srgbClr val="4A5F73"/>
          </a:solidFill>
          <a:ln/>
        </p:spPr>
      </p:sp>
      <p:sp>
        <p:nvSpPr>
          <p:cNvPr id="20" name="Text 10"/>
          <p:cNvSpPr/>
          <p:nvPr/>
        </p:nvSpPr>
        <p:spPr>
          <a:xfrm>
            <a:off x="6999163" y="1832521"/>
            <a:ext cx="1633612" cy="196007"/>
          </a:xfrm>
          <a:prstGeom prst="rect">
            <a:avLst/>
          </a:prstGeom>
          <a:noFill/>
          <a:ln/>
        </p:spPr>
        <p:txBody>
          <a:bodyPr wrap="none" lIns="0" tIns="0" rIns="0" bIns="0" rtlCol="0" anchor="t"/>
          <a:lstStyle/>
          <a:p>
            <a:pPr marL="0" indent="0" algn="l">
              <a:lnSpc>
                <a:spcPts val="1500"/>
              </a:lnSpc>
              <a:buNone/>
            </a:pPr>
            <a:r>
              <a:rPr lang="en-US" sz="1250" dirty="0">
                <a:solidFill>
                  <a:srgbClr val="FFFFFF"/>
                </a:solidFill>
                <a:latin typeface="DM Sans" pitchFamily="2" charset="0"/>
                <a:ea typeface="Space Grotesk Medium" pitchFamily="34" charset="-122"/>
                <a:cs typeface="Space Grotesk Medium" pitchFamily="34" charset="-120"/>
              </a:rPr>
              <a:t>IQR Outlier Method</a:t>
            </a:r>
            <a:endParaRPr lang="en-US" sz="1250" dirty="0">
              <a:latin typeface="DM Sans" pitchFamily="2" charset="0"/>
            </a:endParaRPr>
          </a:p>
        </p:txBody>
      </p:sp>
      <p:sp>
        <p:nvSpPr>
          <p:cNvPr id="21" name="Text 11"/>
          <p:cNvSpPr/>
          <p:nvPr/>
        </p:nvSpPr>
        <p:spPr>
          <a:xfrm>
            <a:off x="6999163" y="2149004"/>
            <a:ext cx="1655564" cy="1125141"/>
          </a:xfrm>
          <a:prstGeom prst="rect">
            <a:avLst/>
          </a:prstGeom>
          <a:noFill/>
          <a:ln/>
        </p:spPr>
        <p:txBody>
          <a:bodyPr wrap="square" lIns="0" tIns="0" rIns="0" bIns="0" rtlCol="0" anchor="t"/>
          <a:lstStyle/>
          <a:p>
            <a:r>
              <a:rPr lang="en-US" sz="800" dirty="0">
                <a:solidFill>
                  <a:schemeClr val="bg1"/>
                </a:solidFill>
                <a:latin typeface="DM Sans" pitchFamily="2" charset="0"/>
                <a:ea typeface="Inter Medium" pitchFamily="34" charset="-122"/>
                <a:cs typeface="Inter Medium" pitchFamily="34" charset="-120"/>
              </a:rPr>
              <a:t>Interquartile Range filtering removes extreme spikes safely — robust for noisy sensor distributions.</a:t>
            </a:r>
            <a:endParaRPr lang="en-US" sz="800" dirty="0">
              <a:solidFill>
                <a:schemeClr val="bg1"/>
              </a:solidFill>
              <a:latin typeface="DM Sans" pitchFamily="2" charset="0"/>
            </a:endParaRPr>
          </a:p>
        </p:txBody>
      </p:sp>
      <p:sp>
        <p:nvSpPr>
          <p:cNvPr id="22" name="Text 12"/>
          <p:cNvSpPr/>
          <p:nvPr/>
        </p:nvSpPr>
        <p:spPr>
          <a:xfrm>
            <a:off x="6999163" y="3035635"/>
            <a:ext cx="1651546" cy="196007"/>
          </a:xfrm>
          <a:prstGeom prst="rect">
            <a:avLst/>
          </a:prstGeom>
          <a:noFill/>
          <a:ln/>
        </p:spPr>
        <p:txBody>
          <a:bodyPr wrap="none" lIns="0" tIns="0" rIns="0" bIns="0" rtlCol="0" anchor="t"/>
          <a:lstStyle/>
          <a:p>
            <a:pPr marL="0" indent="0" algn="l">
              <a:lnSpc>
                <a:spcPts val="1500"/>
              </a:lnSpc>
              <a:buNone/>
            </a:pPr>
            <a:r>
              <a:rPr lang="en-US" sz="1250" dirty="0">
                <a:solidFill>
                  <a:srgbClr val="FFFFFF"/>
                </a:solidFill>
                <a:latin typeface="DM Sans" pitchFamily="2" charset="0"/>
                <a:ea typeface="Space Grotesk Medium" pitchFamily="34" charset="-122"/>
                <a:cs typeface="Space Grotesk Medium" pitchFamily="34" charset="-120"/>
              </a:rPr>
              <a:t>Diagnostic Metadata</a:t>
            </a:r>
            <a:endParaRPr lang="en-US" sz="1250" dirty="0">
              <a:latin typeface="DM Sans" pitchFamily="2" charset="0"/>
            </a:endParaRPr>
          </a:p>
        </p:txBody>
      </p:sp>
      <p:sp>
        <p:nvSpPr>
          <p:cNvPr id="23" name="Text 13"/>
          <p:cNvSpPr/>
          <p:nvPr/>
        </p:nvSpPr>
        <p:spPr>
          <a:xfrm>
            <a:off x="6999163" y="3352118"/>
            <a:ext cx="1655564" cy="843855"/>
          </a:xfrm>
          <a:prstGeom prst="rect">
            <a:avLst/>
          </a:prstGeom>
          <a:noFill/>
          <a:ln/>
        </p:spPr>
        <p:txBody>
          <a:bodyPr wrap="square" lIns="0" tIns="0" rIns="0" bIns="0" rtlCol="0" anchor="t"/>
          <a:lstStyle/>
          <a:p>
            <a:pPr marL="0" indent="0" algn="l">
              <a:lnSpc>
                <a:spcPts val="1100"/>
              </a:lnSpc>
              <a:buNone/>
            </a:pPr>
            <a:r>
              <a:rPr lang="en-US" sz="800" dirty="0">
                <a:solidFill>
                  <a:srgbClr val="FFFFFF"/>
                </a:solidFill>
                <a:latin typeface="DM Sans" pitchFamily="2" charset="0"/>
                <a:ea typeface="DM Sans" pitchFamily="34" charset="-122"/>
                <a:cs typeface="DM Sans" pitchFamily="34" charset="-120"/>
              </a:rPr>
              <a:t>Network delay and transmission timestamps are embedded as diagnostic features, enabling the system to distinguish genuine anomalies from communication artefacts.</a:t>
            </a:r>
            <a:endParaRPr lang="en-US" sz="800" dirty="0">
              <a:latin typeface="DM Sans" pitchFamily="2" charset="0"/>
            </a:endParaRPr>
          </a:p>
        </p:txBody>
      </p:sp>
      <p:pic>
        <p:nvPicPr>
          <p:cNvPr id="25" name="Picture 24">
            <a:extLst>
              <a:ext uri="{FF2B5EF4-FFF2-40B4-BE49-F238E27FC236}">
                <a16:creationId xmlns:a16="http://schemas.microsoft.com/office/drawing/2014/main" id="{D231D187-5A96-061E-347A-E1313E9D4C79}"/>
              </a:ext>
            </a:extLst>
          </p:cNvPr>
          <p:cNvPicPr>
            <a:picLocks noChangeAspect="1"/>
          </p:cNvPicPr>
          <p:nvPr/>
        </p:nvPicPr>
        <p:blipFill>
          <a:blip r:embed="rId10"/>
          <a:stretch>
            <a:fillRect/>
          </a:stretch>
        </p:blipFill>
        <p:spPr>
          <a:xfrm>
            <a:off x="24739" y="0"/>
            <a:ext cx="3509472" cy="52154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824433"/>
            <a:ext cx="973782" cy="243706"/>
          </a:xfrm>
          <a:prstGeom prst="roundRect">
            <a:avLst>
              <a:gd name="adj" fmla="val 6981"/>
            </a:avLst>
          </a:prstGeom>
          <a:solidFill>
            <a:srgbClr val="E6E6E6"/>
          </a:solidFill>
          <a:ln/>
        </p:spPr>
      </p:sp>
      <p:sp>
        <p:nvSpPr>
          <p:cNvPr id="3" name="Text 1"/>
          <p:cNvSpPr/>
          <p:nvPr/>
        </p:nvSpPr>
        <p:spPr>
          <a:xfrm>
            <a:off x="581174" y="866924"/>
            <a:ext cx="803672" cy="158725"/>
          </a:xfrm>
          <a:prstGeom prst="rect">
            <a:avLst/>
          </a:prstGeom>
          <a:noFill/>
          <a:ln/>
        </p:spPr>
        <p:txBody>
          <a:bodyPr wrap="none" lIns="0" tIns="0" rIns="0" bIns="0" rtlCol="0" anchor="t"/>
          <a:lstStyle/>
          <a:p>
            <a:pPr marL="0" indent="0" algn="l">
              <a:lnSpc>
                <a:spcPts val="1250"/>
              </a:lnSpc>
              <a:buNone/>
            </a:pPr>
            <a:r>
              <a:rPr lang="en-US" sz="850" dirty="0">
                <a:solidFill>
                  <a:srgbClr val="2A2A2A"/>
                </a:solidFill>
                <a:latin typeface="DM Sans" pitchFamily="2" charset="0"/>
                <a:ea typeface="DM Sans" pitchFamily="34" charset="-122"/>
                <a:cs typeface="Times New Roman" panose="02020603050405020304" pitchFamily="18" charset="0"/>
              </a:rPr>
              <a:t>ARCHITECTURE</a:t>
            </a:r>
            <a:endParaRPr lang="en-US" sz="850" dirty="0">
              <a:latin typeface="DM Sans" pitchFamily="2" charset="0"/>
            </a:endParaRPr>
          </a:p>
        </p:txBody>
      </p:sp>
      <p:sp>
        <p:nvSpPr>
          <p:cNvPr id="4" name="Text 2"/>
          <p:cNvSpPr/>
          <p:nvPr/>
        </p:nvSpPr>
        <p:spPr>
          <a:xfrm>
            <a:off x="496119" y="1124843"/>
            <a:ext cx="5691039" cy="425276"/>
          </a:xfrm>
          <a:prstGeom prst="rect">
            <a:avLst/>
          </a:prstGeom>
          <a:noFill/>
          <a:ln/>
        </p:spPr>
        <p:txBody>
          <a:bodyPr wrap="none" lIns="0" tIns="0" rIns="0" bIns="0" rtlCol="0" anchor="t"/>
          <a:lstStyle/>
          <a:p>
            <a:pPr marL="0" indent="0" algn="l">
              <a:lnSpc>
                <a:spcPts val="3300"/>
              </a:lnSpc>
              <a:buNone/>
            </a:pPr>
            <a:r>
              <a:rPr lang="en-US" sz="2750" dirty="0">
                <a:solidFill>
                  <a:srgbClr val="171717"/>
                </a:solidFill>
                <a:latin typeface="DM Sans" pitchFamily="2" charset="0"/>
                <a:ea typeface="Space Grotesk Medium" pitchFamily="34" charset="-122"/>
                <a:cs typeface="Space Grotesk Medium" pitchFamily="34" charset="-120"/>
              </a:rPr>
              <a:t>3-Tier Microservices Architecture</a:t>
            </a:r>
            <a:endParaRPr lang="en-US" sz="2750" dirty="0">
              <a:latin typeface="DM Sans" pitchFamily="2" charset="0"/>
            </a:endParaRPr>
          </a:p>
        </p:txBody>
      </p:sp>
      <p:pic>
        <p:nvPicPr>
          <p:cNvPr id="5" name="Image 0" descr="preencoded.png"/>
          <p:cNvPicPr>
            <a:picLocks noChangeAspect="1"/>
          </p:cNvPicPr>
          <p:nvPr/>
        </p:nvPicPr>
        <p:blipFill>
          <a:blip r:embed="rId3"/>
          <a:stretch>
            <a:fillRect/>
          </a:stretch>
        </p:blipFill>
        <p:spPr>
          <a:xfrm>
            <a:off x="496119" y="1762720"/>
            <a:ext cx="2717229" cy="567035"/>
          </a:xfrm>
          <a:prstGeom prst="rect">
            <a:avLst/>
          </a:prstGeom>
        </p:spPr>
      </p:pic>
      <p:sp>
        <p:nvSpPr>
          <p:cNvPr id="6" name="Text 3"/>
          <p:cNvSpPr/>
          <p:nvPr/>
        </p:nvSpPr>
        <p:spPr>
          <a:xfrm>
            <a:off x="637877" y="2471514"/>
            <a:ext cx="1772022" cy="212601"/>
          </a:xfrm>
          <a:prstGeom prst="rect">
            <a:avLst/>
          </a:prstGeom>
          <a:noFill/>
          <a:ln/>
        </p:spPr>
        <p:txBody>
          <a:bodyPr wrap="none" lIns="0" tIns="0" rIns="0" bIns="0" rtlCol="0" anchor="t"/>
          <a:lstStyle/>
          <a:p>
            <a:pPr marL="0" indent="0" algn="l">
              <a:lnSpc>
                <a:spcPts val="1650"/>
              </a:lnSpc>
              <a:buNone/>
            </a:pPr>
            <a:r>
              <a:rPr lang="en-US" sz="1350" dirty="0">
                <a:solidFill>
                  <a:srgbClr val="2A2A2A"/>
                </a:solidFill>
                <a:latin typeface="DM Sans" pitchFamily="2" charset="0"/>
                <a:ea typeface="Space Grotesk Medium" pitchFamily="34" charset="-122"/>
                <a:cs typeface="Space Grotesk Medium" pitchFamily="34" charset="-120"/>
              </a:rPr>
              <a:t>Angular Frontend</a:t>
            </a:r>
            <a:endParaRPr lang="en-US" sz="1350" dirty="0">
              <a:latin typeface="DM Sans" pitchFamily="2" charset="0"/>
            </a:endParaRPr>
          </a:p>
        </p:txBody>
      </p:sp>
      <p:sp>
        <p:nvSpPr>
          <p:cNvPr id="7" name="Text 4"/>
          <p:cNvSpPr/>
          <p:nvPr/>
        </p:nvSpPr>
        <p:spPr>
          <a:xfrm>
            <a:off x="637877" y="2769171"/>
            <a:ext cx="2433712" cy="476176"/>
          </a:xfrm>
          <a:prstGeom prst="rect">
            <a:avLst/>
          </a:prstGeom>
          <a:noFill/>
          <a:ln/>
        </p:spPr>
        <p:txBody>
          <a:bodyPr wrap="square" lIns="0" tIns="0" rIns="0" bIns="0" rtlCol="0" anchor="t"/>
          <a:lstStyle/>
          <a:p>
            <a:pPr marL="0" indent="0" algn="l">
              <a:lnSpc>
                <a:spcPts val="1250"/>
              </a:lnSpc>
              <a:buNone/>
            </a:pPr>
            <a:r>
              <a:rPr lang="en-US" sz="850" dirty="0">
                <a:solidFill>
                  <a:srgbClr val="2A2A2A"/>
                </a:solidFill>
                <a:latin typeface="DM Sans" pitchFamily="2" charset="0"/>
                <a:ea typeface="DM Sans" pitchFamily="34" charset="-122"/>
                <a:cs typeface="Times New Roman" panose="02020603050405020304" pitchFamily="18" charset="0"/>
              </a:rPr>
              <a:t>Interactive dashboard for real-time sensor data exploration, anomaly visualisation, and alert management</a:t>
            </a:r>
            <a:endParaRPr lang="en-US" sz="850" dirty="0">
              <a:latin typeface="DM Sans" pitchFamily="2" charset="0"/>
            </a:endParaRPr>
          </a:p>
        </p:txBody>
      </p:sp>
      <p:pic>
        <p:nvPicPr>
          <p:cNvPr id="8" name="Image 1" descr="preencoded.png"/>
          <p:cNvPicPr>
            <a:picLocks noChangeAspect="1"/>
          </p:cNvPicPr>
          <p:nvPr/>
        </p:nvPicPr>
        <p:blipFill>
          <a:blip r:embed="rId4"/>
          <a:stretch>
            <a:fillRect/>
          </a:stretch>
        </p:blipFill>
        <p:spPr>
          <a:xfrm>
            <a:off x="3213348" y="1762720"/>
            <a:ext cx="2717229" cy="567035"/>
          </a:xfrm>
          <a:prstGeom prst="rect">
            <a:avLst/>
          </a:prstGeom>
        </p:spPr>
      </p:pic>
      <p:sp>
        <p:nvSpPr>
          <p:cNvPr id="9" name="Text 5"/>
          <p:cNvSpPr/>
          <p:nvPr/>
        </p:nvSpPr>
        <p:spPr>
          <a:xfrm>
            <a:off x="3355107" y="2471514"/>
            <a:ext cx="1772022" cy="212601"/>
          </a:xfrm>
          <a:prstGeom prst="rect">
            <a:avLst/>
          </a:prstGeom>
          <a:noFill/>
          <a:ln/>
        </p:spPr>
        <p:txBody>
          <a:bodyPr wrap="none" lIns="0" tIns="0" rIns="0" bIns="0" rtlCol="0" anchor="t"/>
          <a:lstStyle/>
          <a:p>
            <a:pPr marL="0" indent="0" algn="l">
              <a:lnSpc>
                <a:spcPts val="1650"/>
              </a:lnSpc>
              <a:buNone/>
            </a:pPr>
            <a:r>
              <a:rPr lang="en-US" sz="1350" dirty="0">
                <a:solidFill>
                  <a:srgbClr val="2A2A2A"/>
                </a:solidFill>
                <a:latin typeface="DM Sans" pitchFamily="2" charset="0"/>
                <a:ea typeface="Space Grotesk Medium" pitchFamily="34" charset="-122"/>
                <a:cs typeface="Space Grotesk Medium" pitchFamily="34" charset="-120"/>
              </a:rPr>
              <a:t>.NET Backend</a:t>
            </a:r>
            <a:endParaRPr lang="en-US" sz="1350" dirty="0">
              <a:latin typeface="DM Sans" pitchFamily="2" charset="0"/>
            </a:endParaRPr>
          </a:p>
        </p:txBody>
      </p:sp>
      <p:sp>
        <p:nvSpPr>
          <p:cNvPr id="10" name="Text 6"/>
          <p:cNvSpPr/>
          <p:nvPr/>
        </p:nvSpPr>
        <p:spPr>
          <a:xfrm>
            <a:off x="3355107" y="2769171"/>
            <a:ext cx="2433712" cy="476176"/>
          </a:xfrm>
          <a:prstGeom prst="rect">
            <a:avLst/>
          </a:prstGeom>
          <a:noFill/>
          <a:ln/>
        </p:spPr>
        <p:txBody>
          <a:bodyPr wrap="square" lIns="0" tIns="0" rIns="0" bIns="0" rtlCol="0" anchor="t"/>
          <a:lstStyle/>
          <a:p>
            <a:pPr marL="0" indent="0" algn="l">
              <a:lnSpc>
                <a:spcPts val="1250"/>
              </a:lnSpc>
              <a:buNone/>
            </a:pPr>
            <a:r>
              <a:rPr lang="en-US" sz="850" dirty="0">
                <a:solidFill>
                  <a:srgbClr val="2A2A2A"/>
                </a:solidFill>
                <a:latin typeface="DM Sans" pitchFamily="2" charset="0"/>
                <a:ea typeface="DM Sans" pitchFamily="34" charset="-122"/>
                <a:cs typeface="Times New Roman" panose="02020603050405020304" pitchFamily="18" charset="0"/>
              </a:rPr>
              <a:t>Core system routing, business logic, data orchestration, and secure communication layer between services</a:t>
            </a:r>
            <a:endParaRPr lang="en-US" sz="850" dirty="0">
              <a:latin typeface="DM Sans" pitchFamily="2" charset="0"/>
            </a:endParaRPr>
          </a:p>
        </p:txBody>
      </p:sp>
      <p:pic>
        <p:nvPicPr>
          <p:cNvPr id="11" name="Image 2" descr="preencoded.png"/>
          <p:cNvPicPr>
            <a:picLocks noChangeAspect="1"/>
          </p:cNvPicPr>
          <p:nvPr/>
        </p:nvPicPr>
        <p:blipFill>
          <a:blip r:embed="rId5"/>
          <a:stretch>
            <a:fillRect/>
          </a:stretch>
        </p:blipFill>
        <p:spPr>
          <a:xfrm>
            <a:off x="5930578" y="1762720"/>
            <a:ext cx="2717229" cy="567035"/>
          </a:xfrm>
          <a:prstGeom prst="rect">
            <a:avLst/>
          </a:prstGeom>
        </p:spPr>
      </p:pic>
      <p:sp>
        <p:nvSpPr>
          <p:cNvPr id="12" name="Text 7"/>
          <p:cNvSpPr/>
          <p:nvPr/>
        </p:nvSpPr>
        <p:spPr>
          <a:xfrm>
            <a:off x="6072336" y="2471514"/>
            <a:ext cx="1811313" cy="212601"/>
          </a:xfrm>
          <a:prstGeom prst="rect">
            <a:avLst/>
          </a:prstGeom>
          <a:noFill/>
          <a:ln/>
        </p:spPr>
        <p:txBody>
          <a:bodyPr wrap="none" lIns="0" tIns="0" rIns="0" bIns="0" rtlCol="0" anchor="t"/>
          <a:lstStyle/>
          <a:p>
            <a:pPr marL="0" indent="0" algn="l">
              <a:lnSpc>
                <a:spcPts val="1650"/>
              </a:lnSpc>
              <a:buNone/>
            </a:pPr>
            <a:r>
              <a:rPr lang="en-US" sz="1350" dirty="0">
                <a:solidFill>
                  <a:srgbClr val="2A2A2A"/>
                </a:solidFill>
                <a:latin typeface="DM Sans" pitchFamily="2" charset="0"/>
                <a:ea typeface="Space Grotesk Medium" pitchFamily="34" charset="-122"/>
                <a:cs typeface="Space Grotesk Medium" pitchFamily="34" charset="-120"/>
              </a:rPr>
              <a:t>Python / Flask ML API</a:t>
            </a:r>
            <a:endParaRPr lang="en-US" sz="1350" dirty="0">
              <a:latin typeface="DM Sans" pitchFamily="2" charset="0"/>
            </a:endParaRPr>
          </a:p>
        </p:txBody>
      </p:sp>
      <p:sp>
        <p:nvSpPr>
          <p:cNvPr id="13" name="Text 8"/>
          <p:cNvSpPr/>
          <p:nvPr/>
        </p:nvSpPr>
        <p:spPr>
          <a:xfrm>
            <a:off x="6072336" y="2769171"/>
            <a:ext cx="2502704" cy="476176"/>
          </a:xfrm>
          <a:prstGeom prst="rect">
            <a:avLst/>
          </a:prstGeom>
          <a:noFill/>
          <a:ln/>
        </p:spPr>
        <p:txBody>
          <a:bodyPr wrap="square" lIns="0" tIns="0" rIns="0" bIns="0" rtlCol="0" anchor="t"/>
          <a:lstStyle/>
          <a:p>
            <a:pPr>
              <a:lnSpc>
                <a:spcPts val="1250"/>
              </a:lnSpc>
            </a:pPr>
            <a:r>
              <a:rPr lang="en-US" sz="900" dirty="0">
                <a:solidFill>
                  <a:srgbClr val="464646"/>
                </a:solidFill>
                <a:latin typeface="DM Sans" pitchFamily="2" charset="0"/>
                <a:ea typeface="Inter Medium" pitchFamily="34" charset="-122"/>
                <a:cs typeface="Inter Medium" pitchFamily="34" charset="-120"/>
              </a:rPr>
              <a:t>Separate microservice hosting the unsupervised models (Isolation Forest, K-Means, One-Class SVM).</a:t>
            </a:r>
            <a:endParaRPr lang="en-US" sz="850" dirty="0">
              <a:latin typeface="DM Sans" pitchFamily="2" charset="0"/>
            </a:endParaRPr>
          </a:p>
        </p:txBody>
      </p:sp>
      <p:sp>
        <p:nvSpPr>
          <p:cNvPr id="14" name="Shape 9"/>
          <p:cNvSpPr/>
          <p:nvPr/>
        </p:nvSpPr>
        <p:spPr>
          <a:xfrm>
            <a:off x="496119" y="3546574"/>
            <a:ext cx="8151763" cy="772492"/>
          </a:xfrm>
          <a:prstGeom prst="roundRect">
            <a:avLst>
              <a:gd name="adj" fmla="val 2753"/>
            </a:avLst>
          </a:prstGeom>
          <a:solidFill>
            <a:schemeClr val="bg1">
              <a:lumMod val="95000"/>
            </a:schemeClr>
          </a:solidFill>
          <a:ln>
            <a:solidFill>
              <a:schemeClr val="accent1">
                <a:lumMod val="20000"/>
                <a:lumOff val="80000"/>
              </a:schemeClr>
            </a:solidFill>
          </a:ln>
        </p:spPr>
      </p:sp>
      <p:pic>
        <p:nvPicPr>
          <p:cNvPr id="15" name="Image 3" descr="preencoded.png"/>
          <p:cNvPicPr>
            <a:picLocks noChangeAspect="1"/>
          </p:cNvPicPr>
          <p:nvPr/>
        </p:nvPicPr>
        <p:blipFill>
          <a:blip r:embed="rId6"/>
          <a:stretch>
            <a:fillRect/>
          </a:stretch>
        </p:blipFill>
        <p:spPr>
          <a:xfrm>
            <a:off x="637877" y="3818222"/>
            <a:ext cx="177180" cy="141759"/>
          </a:xfrm>
          <a:prstGeom prst="rect">
            <a:avLst/>
          </a:prstGeom>
        </p:spPr>
      </p:pic>
      <p:sp>
        <p:nvSpPr>
          <p:cNvPr id="16" name="Text 10"/>
          <p:cNvSpPr/>
          <p:nvPr/>
        </p:nvSpPr>
        <p:spPr>
          <a:xfrm>
            <a:off x="956816" y="3723754"/>
            <a:ext cx="7549307" cy="396925"/>
          </a:xfrm>
          <a:prstGeom prst="rect">
            <a:avLst/>
          </a:prstGeom>
          <a:noFill/>
          <a:ln/>
        </p:spPr>
        <p:txBody>
          <a:bodyPr wrap="square" lIns="0" tIns="0" rIns="0" bIns="0" rtlCol="0" anchor="t"/>
          <a:lstStyle/>
          <a:p>
            <a:pPr marL="0" indent="0" algn="l">
              <a:lnSpc>
                <a:spcPts val="1550"/>
              </a:lnSpc>
              <a:buNone/>
            </a:pPr>
            <a:r>
              <a:rPr lang="en-US" sz="900" dirty="0">
                <a:solidFill>
                  <a:srgbClr val="000000"/>
                </a:solidFill>
                <a:latin typeface="DM Sans" pitchFamily="2" charset="0"/>
                <a:ea typeface="DM Sans" pitchFamily="34" charset="-122"/>
                <a:cs typeface="Times New Roman" panose="02020603050405020304" pitchFamily="18" charset="0"/>
              </a:rPr>
              <a:t>Each tier is independently deployable and scalable, following microservices best practices. The separation of the ML service from core business logic ensures model updates can be rolled out without system downtime.</a:t>
            </a:r>
            <a:endParaRPr lang="en-US" sz="900" dirty="0">
              <a:latin typeface="DM Sans"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5" name="Shape 1"/>
          <p:cNvSpPr/>
          <p:nvPr/>
        </p:nvSpPr>
        <p:spPr>
          <a:xfrm>
            <a:off x="496119" y="805979"/>
            <a:ext cx="1010841" cy="243706"/>
          </a:xfrm>
          <a:prstGeom prst="roundRect">
            <a:avLst>
              <a:gd name="adj" fmla="val 6981"/>
            </a:avLst>
          </a:prstGeom>
          <a:solidFill>
            <a:srgbClr val="E6E6E6"/>
          </a:solidFill>
          <a:ln/>
        </p:spPr>
      </p:sp>
      <p:sp>
        <p:nvSpPr>
          <p:cNvPr id="6" name="Text 2"/>
          <p:cNvSpPr/>
          <p:nvPr/>
        </p:nvSpPr>
        <p:spPr>
          <a:xfrm>
            <a:off x="581174" y="848469"/>
            <a:ext cx="840730" cy="158725"/>
          </a:xfrm>
          <a:prstGeom prst="rect">
            <a:avLst/>
          </a:prstGeom>
          <a:noFill/>
          <a:ln/>
        </p:spPr>
        <p:txBody>
          <a:bodyPr wrap="none" lIns="0" tIns="0" rIns="0" bIns="0" rtlCol="0" anchor="t"/>
          <a:lstStyle/>
          <a:p>
            <a:pPr marL="0" indent="0" algn="l">
              <a:lnSpc>
                <a:spcPts val="1250"/>
              </a:lnSpc>
              <a:buNone/>
            </a:pPr>
            <a:r>
              <a:rPr lang="en-US" sz="850" dirty="0">
                <a:solidFill>
                  <a:srgbClr val="2A2A2A"/>
                </a:solidFill>
                <a:latin typeface="DM Sans" pitchFamily="2" charset="0"/>
                <a:ea typeface="DM Sans" pitchFamily="34" charset="-122"/>
                <a:cs typeface="Times New Roman" panose="02020603050405020304" pitchFamily="18" charset="0"/>
              </a:rPr>
              <a:t>METHODOLOGY</a:t>
            </a:r>
            <a:endParaRPr lang="en-US" sz="850" dirty="0">
              <a:latin typeface="DM Sans" pitchFamily="2" charset="0"/>
            </a:endParaRPr>
          </a:p>
        </p:txBody>
      </p:sp>
      <p:sp>
        <p:nvSpPr>
          <p:cNvPr id="7" name="Text 3"/>
          <p:cNvSpPr/>
          <p:nvPr/>
        </p:nvSpPr>
        <p:spPr>
          <a:xfrm>
            <a:off x="496119" y="1319026"/>
            <a:ext cx="7858274" cy="425276"/>
          </a:xfrm>
          <a:prstGeom prst="rect">
            <a:avLst/>
          </a:prstGeom>
          <a:noFill/>
          <a:ln/>
        </p:spPr>
        <p:txBody>
          <a:bodyPr wrap="none" lIns="0" tIns="0" rIns="0" bIns="0" rtlCol="0" anchor="t"/>
          <a:lstStyle/>
          <a:p>
            <a:pPr marL="0" indent="0" algn="l">
              <a:lnSpc>
                <a:spcPts val="3300"/>
              </a:lnSpc>
              <a:buNone/>
            </a:pPr>
            <a:r>
              <a:rPr lang="en-US" sz="2750" dirty="0">
                <a:solidFill>
                  <a:srgbClr val="171717"/>
                </a:solidFill>
                <a:latin typeface="DM Sans" pitchFamily="2" charset="0"/>
                <a:ea typeface="Space Grotesk Medium" pitchFamily="34" charset="-122"/>
                <a:cs typeface="Space Grotesk Medium" pitchFamily="34" charset="-120"/>
              </a:rPr>
              <a:t>Unsupervised Machine Learning Methodology</a:t>
            </a:r>
            <a:endParaRPr lang="en-US" sz="2750" dirty="0">
              <a:latin typeface="DM Sans" pitchFamily="2" charset="0"/>
            </a:endParaRPr>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65662" y="1869653"/>
            <a:ext cx="212601" cy="212601"/>
          </a:xfrm>
          <a:prstGeom prst="rect">
            <a:avLst/>
          </a:prstGeom>
        </p:spPr>
      </p:pic>
      <p:pic>
        <p:nvPicPr>
          <p:cNvPr id="20"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30145" y="1869653"/>
            <a:ext cx="212601" cy="212601"/>
          </a:xfrm>
          <a:prstGeom prst="rect">
            <a:avLst/>
          </a:prstGeom>
        </p:spPr>
      </p:pic>
      <p:sp>
        <p:nvSpPr>
          <p:cNvPr id="23" name="Text 16"/>
          <p:cNvSpPr/>
          <p:nvPr/>
        </p:nvSpPr>
        <p:spPr>
          <a:xfrm>
            <a:off x="496119" y="3940597"/>
            <a:ext cx="8151763" cy="396925"/>
          </a:xfrm>
          <a:prstGeom prst="rect">
            <a:avLst/>
          </a:prstGeom>
          <a:noFill/>
          <a:ln/>
        </p:spPr>
        <p:txBody>
          <a:bodyPr wrap="square" lIns="0" tIns="0" rIns="0" bIns="0" rtlCol="0" anchor="t"/>
          <a:lstStyle/>
          <a:p>
            <a:pPr marL="0" indent="0" algn="l">
              <a:lnSpc>
                <a:spcPts val="1550"/>
              </a:lnSpc>
              <a:buNone/>
            </a:pPr>
            <a:r>
              <a:rPr lang="en-US" sz="900" dirty="0">
                <a:solidFill>
                  <a:srgbClr val="2A2A2A"/>
                </a:solidFill>
                <a:latin typeface="DM Sans" pitchFamily="2" charset="0"/>
                <a:ea typeface="DM Sans" pitchFamily="34" charset="-122"/>
                <a:cs typeface="Times New Roman" panose="02020603050405020304" pitchFamily="18" charset="0"/>
              </a:rPr>
              <a:t>All three algorithms were trained exclusively on </a:t>
            </a:r>
            <a:r>
              <a:rPr lang="en-US" sz="900" b="1" dirty="0">
                <a:solidFill>
                  <a:srgbClr val="2A2A2A"/>
                </a:solidFill>
                <a:latin typeface="DM Sans" pitchFamily="2" charset="0"/>
                <a:ea typeface="DM Sans" pitchFamily="34" charset="-122"/>
                <a:cs typeface="Times New Roman" panose="02020603050405020304" pitchFamily="18" charset="0"/>
              </a:rPr>
              <a:t>unlabelled sensor data</a:t>
            </a:r>
            <a:r>
              <a:rPr lang="en-US" sz="900" dirty="0">
                <a:solidFill>
                  <a:srgbClr val="2A2A2A"/>
                </a:solidFill>
                <a:latin typeface="DM Sans" pitchFamily="2" charset="0"/>
                <a:ea typeface="DM Sans" pitchFamily="34" charset="-122"/>
                <a:cs typeface="Times New Roman" panose="02020603050405020304" pitchFamily="18" charset="0"/>
              </a:rPr>
              <a:t>, requiring no prior knowledge of what constitutes an anomaly — addressing the fundamental challenge of industrial IoT environments.</a:t>
            </a:r>
            <a:endParaRPr lang="en-US" sz="900" dirty="0">
              <a:latin typeface="DM Sans" pitchFamily="2" charset="0"/>
            </a:endParaRPr>
          </a:p>
        </p:txBody>
      </p:sp>
      <p:pic>
        <p:nvPicPr>
          <p:cNvPr id="35" name="Image 1" descr="preencoded.png">
            <a:extLst>
              <a:ext uri="{FF2B5EF4-FFF2-40B4-BE49-F238E27FC236}">
                <a16:creationId xmlns:a16="http://schemas.microsoft.com/office/drawing/2014/main" id="{630DD43B-461E-60F4-E1EA-2BDE85790BB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1174" y="2130921"/>
            <a:ext cx="248022" cy="248022"/>
          </a:xfrm>
          <a:prstGeom prst="rect">
            <a:avLst/>
          </a:prstGeom>
        </p:spPr>
      </p:pic>
      <p:sp>
        <p:nvSpPr>
          <p:cNvPr id="36" name="Text 1">
            <a:extLst>
              <a:ext uri="{FF2B5EF4-FFF2-40B4-BE49-F238E27FC236}">
                <a16:creationId xmlns:a16="http://schemas.microsoft.com/office/drawing/2014/main" id="{1CFA2A77-FCD3-44A5-548F-948C8EE28022}"/>
              </a:ext>
            </a:extLst>
          </p:cNvPr>
          <p:cNvSpPr/>
          <p:nvPr/>
        </p:nvSpPr>
        <p:spPr>
          <a:xfrm>
            <a:off x="581174" y="2465710"/>
            <a:ext cx="1240408" cy="155004"/>
          </a:xfrm>
          <a:prstGeom prst="rect">
            <a:avLst/>
          </a:prstGeom>
          <a:noFill/>
          <a:ln/>
        </p:spPr>
        <p:txBody>
          <a:bodyPr wrap="none" lIns="0" tIns="0" rIns="0" bIns="0" rtlCol="0" anchor="t"/>
          <a:lstStyle/>
          <a:p>
            <a:pPr marL="0" indent="0" algn="l">
              <a:lnSpc>
                <a:spcPts val="1200"/>
              </a:lnSpc>
              <a:buNone/>
            </a:pPr>
            <a:r>
              <a:rPr lang="en-US" sz="1000" b="1" dirty="0">
                <a:solidFill>
                  <a:srgbClr val="464646"/>
                </a:solidFill>
                <a:latin typeface="DM Sans" pitchFamily="2" charset="0"/>
                <a:ea typeface="DM Sans Semi Bold" pitchFamily="34" charset="-122"/>
                <a:cs typeface="DM Sans Semi Bold" pitchFamily="34" charset="-120"/>
              </a:rPr>
              <a:t>Isolation Forest</a:t>
            </a:r>
            <a:endParaRPr lang="en-US" sz="1000" b="1" dirty="0">
              <a:latin typeface="DM Sans" pitchFamily="2" charset="0"/>
            </a:endParaRPr>
          </a:p>
        </p:txBody>
      </p:sp>
      <p:sp>
        <p:nvSpPr>
          <p:cNvPr id="37" name="Text 2">
            <a:extLst>
              <a:ext uri="{FF2B5EF4-FFF2-40B4-BE49-F238E27FC236}">
                <a16:creationId xmlns:a16="http://schemas.microsoft.com/office/drawing/2014/main" id="{9DBE36E9-E4EE-2CC3-93CD-9F5A5B29B175}"/>
              </a:ext>
            </a:extLst>
          </p:cNvPr>
          <p:cNvSpPr/>
          <p:nvPr/>
        </p:nvSpPr>
        <p:spPr>
          <a:xfrm>
            <a:off x="581174" y="2662386"/>
            <a:ext cx="2659410" cy="404961"/>
          </a:xfrm>
          <a:prstGeom prst="rect">
            <a:avLst/>
          </a:prstGeom>
          <a:noFill/>
          <a:ln/>
        </p:spPr>
        <p:txBody>
          <a:bodyPr wrap="square" lIns="0" tIns="0" rIns="0" bIns="0" rtlCol="0" anchor="t"/>
          <a:lstStyle/>
          <a:p>
            <a:pPr marL="0" indent="0" algn="l">
              <a:lnSpc>
                <a:spcPts val="1050"/>
              </a:lnSpc>
              <a:buNone/>
            </a:pPr>
            <a:r>
              <a:rPr lang="en-US" sz="900" dirty="0">
                <a:solidFill>
                  <a:srgbClr val="464646"/>
                </a:solidFill>
                <a:latin typeface="DM Sans" pitchFamily="2" charset="0"/>
                <a:ea typeface="Inter Medium" pitchFamily="34" charset="-122"/>
                <a:cs typeface="Inter Medium" pitchFamily="34" charset="-120"/>
              </a:rPr>
              <a:t>Randomly partitions feature space; anomalies require fewer splits. Works well on high-variance industrial data.</a:t>
            </a:r>
            <a:endParaRPr lang="en-US" sz="900" dirty="0">
              <a:latin typeface="DM Sans" pitchFamily="2" charset="0"/>
            </a:endParaRPr>
          </a:p>
        </p:txBody>
      </p:sp>
      <p:pic>
        <p:nvPicPr>
          <p:cNvPr id="38" name="Image 2" descr="preencoded.png">
            <a:extLst>
              <a:ext uri="{FF2B5EF4-FFF2-40B4-BE49-F238E27FC236}">
                <a16:creationId xmlns:a16="http://schemas.microsoft.com/office/drawing/2014/main" id="{21D23427-87D5-6773-7886-B4857C66C8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27350" y="2130921"/>
            <a:ext cx="248022" cy="248022"/>
          </a:xfrm>
          <a:prstGeom prst="rect">
            <a:avLst/>
          </a:prstGeom>
        </p:spPr>
      </p:pic>
      <p:sp>
        <p:nvSpPr>
          <p:cNvPr id="39" name="Text 3">
            <a:extLst>
              <a:ext uri="{FF2B5EF4-FFF2-40B4-BE49-F238E27FC236}">
                <a16:creationId xmlns:a16="http://schemas.microsoft.com/office/drawing/2014/main" id="{99208786-2BA6-B9F1-B55B-1007E8B5FED6}"/>
              </a:ext>
            </a:extLst>
          </p:cNvPr>
          <p:cNvSpPr/>
          <p:nvPr/>
        </p:nvSpPr>
        <p:spPr>
          <a:xfrm>
            <a:off x="3327350" y="2465710"/>
            <a:ext cx="1240408" cy="155004"/>
          </a:xfrm>
          <a:prstGeom prst="rect">
            <a:avLst/>
          </a:prstGeom>
          <a:noFill/>
          <a:ln/>
        </p:spPr>
        <p:txBody>
          <a:bodyPr wrap="none" lIns="0" tIns="0" rIns="0" bIns="0" rtlCol="0" anchor="t"/>
          <a:lstStyle/>
          <a:p>
            <a:pPr marL="0" indent="0" algn="l">
              <a:lnSpc>
                <a:spcPts val="1200"/>
              </a:lnSpc>
              <a:buNone/>
            </a:pPr>
            <a:r>
              <a:rPr lang="en-US" sz="1000" b="1" dirty="0">
                <a:solidFill>
                  <a:srgbClr val="464646"/>
                </a:solidFill>
                <a:latin typeface="DM Sans" pitchFamily="2" charset="0"/>
                <a:ea typeface="DM Sans Semi Bold" pitchFamily="34" charset="-122"/>
                <a:cs typeface="DM Sans Semi Bold" pitchFamily="34" charset="-120"/>
              </a:rPr>
              <a:t>K-Means</a:t>
            </a:r>
            <a:endParaRPr lang="en-US" sz="1000" b="1" dirty="0">
              <a:latin typeface="DM Sans" pitchFamily="2" charset="0"/>
            </a:endParaRPr>
          </a:p>
        </p:txBody>
      </p:sp>
      <p:sp>
        <p:nvSpPr>
          <p:cNvPr id="40" name="Text 4">
            <a:extLst>
              <a:ext uri="{FF2B5EF4-FFF2-40B4-BE49-F238E27FC236}">
                <a16:creationId xmlns:a16="http://schemas.microsoft.com/office/drawing/2014/main" id="{EC36D716-DA71-2E6F-852D-8C2706734304}"/>
              </a:ext>
            </a:extLst>
          </p:cNvPr>
          <p:cNvSpPr/>
          <p:nvPr/>
        </p:nvSpPr>
        <p:spPr>
          <a:xfrm>
            <a:off x="3327350" y="2662386"/>
            <a:ext cx="2659410" cy="269974"/>
          </a:xfrm>
          <a:prstGeom prst="rect">
            <a:avLst/>
          </a:prstGeom>
          <a:noFill/>
          <a:ln/>
        </p:spPr>
        <p:txBody>
          <a:bodyPr wrap="square" lIns="0" tIns="0" rIns="0" bIns="0" rtlCol="0" anchor="t"/>
          <a:lstStyle/>
          <a:p>
            <a:pPr marL="0" indent="0" algn="l">
              <a:lnSpc>
                <a:spcPts val="1050"/>
              </a:lnSpc>
              <a:buNone/>
            </a:pPr>
            <a:r>
              <a:rPr lang="en-US" sz="900" dirty="0">
                <a:solidFill>
                  <a:srgbClr val="464646"/>
                </a:solidFill>
                <a:latin typeface="DM Sans" pitchFamily="2" charset="0"/>
                <a:ea typeface="Inter Medium" pitchFamily="34" charset="-122"/>
                <a:cs typeface="Inter Medium" pitchFamily="34" charset="-120"/>
              </a:rPr>
              <a:t>Clusters normal behavior; points far from centroids are flagged as anomalies after distance thresholding.</a:t>
            </a:r>
            <a:endParaRPr lang="en-US" sz="900" dirty="0">
              <a:latin typeface="DM Sans" pitchFamily="2" charset="0"/>
            </a:endParaRPr>
          </a:p>
        </p:txBody>
      </p:sp>
      <p:pic>
        <p:nvPicPr>
          <p:cNvPr id="41" name="Image 3" descr="preencoded.png">
            <a:extLst>
              <a:ext uri="{FF2B5EF4-FFF2-40B4-BE49-F238E27FC236}">
                <a16:creationId xmlns:a16="http://schemas.microsoft.com/office/drawing/2014/main" id="{9E58B81E-404D-02DB-3D7D-EBBCA91FCB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73527" y="2130921"/>
            <a:ext cx="248022" cy="248022"/>
          </a:xfrm>
          <a:prstGeom prst="rect">
            <a:avLst/>
          </a:prstGeom>
        </p:spPr>
      </p:pic>
      <p:sp>
        <p:nvSpPr>
          <p:cNvPr id="42" name="Text 5">
            <a:extLst>
              <a:ext uri="{FF2B5EF4-FFF2-40B4-BE49-F238E27FC236}">
                <a16:creationId xmlns:a16="http://schemas.microsoft.com/office/drawing/2014/main" id="{5C78AA9D-73FD-90AA-BCFF-61462E9C748F}"/>
              </a:ext>
            </a:extLst>
          </p:cNvPr>
          <p:cNvSpPr/>
          <p:nvPr/>
        </p:nvSpPr>
        <p:spPr>
          <a:xfrm>
            <a:off x="6073527" y="2465710"/>
            <a:ext cx="1240408" cy="155004"/>
          </a:xfrm>
          <a:prstGeom prst="rect">
            <a:avLst/>
          </a:prstGeom>
          <a:noFill/>
          <a:ln/>
        </p:spPr>
        <p:txBody>
          <a:bodyPr wrap="none" lIns="0" tIns="0" rIns="0" bIns="0" rtlCol="0" anchor="t"/>
          <a:lstStyle/>
          <a:p>
            <a:pPr marL="0" indent="0" algn="l">
              <a:lnSpc>
                <a:spcPts val="1200"/>
              </a:lnSpc>
              <a:buNone/>
            </a:pPr>
            <a:r>
              <a:rPr lang="en-US" sz="1000" b="1" dirty="0">
                <a:solidFill>
                  <a:srgbClr val="464646"/>
                </a:solidFill>
                <a:latin typeface="DM Sans" pitchFamily="2" charset="0"/>
                <a:ea typeface="DM Sans Semi Bold" pitchFamily="34" charset="-122"/>
                <a:cs typeface="DM Sans Semi Bold" pitchFamily="34" charset="-120"/>
              </a:rPr>
              <a:t>One-Class</a:t>
            </a:r>
            <a:r>
              <a:rPr lang="en-US" sz="950" b="1" dirty="0">
                <a:solidFill>
                  <a:srgbClr val="464646"/>
                </a:solidFill>
                <a:latin typeface="DM Sans" pitchFamily="2" charset="0"/>
                <a:ea typeface="DM Sans Semi Bold" pitchFamily="34" charset="-122"/>
                <a:cs typeface="DM Sans Semi Bold" pitchFamily="34" charset="-120"/>
              </a:rPr>
              <a:t> SVM</a:t>
            </a:r>
            <a:endParaRPr lang="en-US" sz="950" b="1" dirty="0">
              <a:latin typeface="DM Sans" pitchFamily="2" charset="0"/>
            </a:endParaRPr>
          </a:p>
        </p:txBody>
      </p:sp>
      <p:sp>
        <p:nvSpPr>
          <p:cNvPr id="43" name="Text 6">
            <a:extLst>
              <a:ext uri="{FF2B5EF4-FFF2-40B4-BE49-F238E27FC236}">
                <a16:creationId xmlns:a16="http://schemas.microsoft.com/office/drawing/2014/main" id="{2E3FA4F9-A01C-379B-4A79-705D95AF2C6D}"/>
              </a:ext>
            </a:extLst>
          </p:cNvPr>
          <p:cNvSpPr/>
          <p:nvPr/>
        </p:nvSpPr>
        <p:spPr>
          <a:xfrm>
            <a:off x="6073527" y="2662386"/>
            <a:ext cx="2659410" cy="404961"/>
          </a:xfrm>
          <a:prstGeom prst="rect">
            <a:avLst/>
          </a:prstGeom>
          <a:noFill/>
          <a:ln/>
        </p:spPr>
        <p:txBody>
          <a:bodyPr wrap="square" lIns="0" tIns="0" rIns="0" bIns="0" rtlCol="0" anchor="t"/>
          <a:lstStyle/>
          <a:p>
            <a:pPr marL="0" indent="0" algn="l">
              <a:lnSpc>
                <a:spcPts val="1050"/>
              </a:lnSpc>
              <a:buNone/>
            </a:pPr>
            <a:r>
              <a:rPr lang="en-US" sz="900" dirty="0">
                <a:solidFill>
                  <a:srgbClr val="464646"/>
                </a:solidFill>
                <a:latin typeface="DM Sans" pitchFamily="2" charset="0"/>
                <a:ea typeface="Inter Medium" pitchFamily="34" charset="-122"/>
                <a:cs typeface="Inter Medium" pitchFamily="34" charset="-120"/>
              </a:rPr>
              <a:t>Learns a boundary around normal data using kernel functions; points outside are anomalous but sensitive to scaling.</a:t>
            </a:r>
            <a:endParaRPr lang="en-US" sz="900" dirty="0">
              <a:latin typeface="DM Sans"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543818"/>
            <a:ext cx="462186" cy="167878"/>
          </a:xfrm>
          <a:prstGeom prst="roundRect">
            <a:avLst>
              <a:gd name="adj" fmla="val 7600"/>
            </a:avLst>
          </a:prstGeom>
          <a:solidFill>
            <a:srgbClr val="262626"/>
          </a:solidFill>
          <a:ln/>
        </p:spPr>
      </p:sp>
      <p:sp>
        <p:nvSpPr>
          <p:cNvPr id="3" name="Text 1"/>
          <p:cNvSpPr/>
          <p:nvPr/>
        </p:nvSpPr>
        <p:spPr>
          <a:xfrm>
            <a:off x="559891" y="575667"/>
            <a:ext cx="334640" cy="104180"/>
          </a:xfrm>
          <a:prstGeom prst="rect">
            <a:avLst/>
          </a:prstGeom>
          <a:noFill/>
          <a:ln/>
        </p:spPr>
        <p:txBody>
          <a:bodyPr wrap="none" lIns="0" tIns="0" rIns="0" bIns="0" rtlCol="0" anchor="t"/>
          <a:lstStyle/>
          <a:p>
            <a:pPr marL="0" indent="0" algn="l">
              <a:lnSpc>
                <a:spcPts val="800"/>
              </a:lnSpc>
              <a:buNone/>
            </a:pPr>
            <a:r>
              <a:rPr lang="en-US" sz="650" dirty="0">
                <a:solidFill>
                  <a:srgbClr val="FFFFFF"/>
                </a:solidFill>
                <a:latin typeface="DM Sans" pitchFamily="2" charset="0"/>
                <a:ea typeface="DM Sans" pitchFamily="34" charset="-122"/>
                <a:cs typeface="Times New Roman" panose="02020603050405020304" pitchFamily="18" charset="0"/>
              </a:rPr>
              <a:t>RESULTS</a:t>
            </a:r>
            <a:endParaRPr lang="en-US" sz="650" dirty="0">
              <a:latin typeface="DM Sans" pitchFamily="2" charset="0"/>
            </a:endParaRPr>
          </a:p>
        </p:txBody>
      </p:sp>
      <p:sp>
        <p:nvSpPr>
          <p:cNvPr id="4" name="Text 2"/>
          <p:cNvSpPr/>
          <p:nvPr/>
        </p:nvSpPr>
        <p:spPr>
          <a:xfrm>
            <a:off x="496119" y="743545"/>
            <a:ext cx="3441278" cy="318939"/>
          </a:xfrm>
          <a:prstGeom prst="rect">
            <a:avLst/>
          </a:prstGeom>
          <a:noFill/>
          <a:ln/>
        </p:spPr>
        <p:txBody>
          <a:bodyPr wrap="none" lIns="0" tIns="0" rIns="0" bIns="0" rtlCol="0" anchor="t"/>
          <a:lstStyle/>
          <a:p>
            <a:pPr marL="0" indent="0" algn="l">
              <a:lnSpc>
                <a:spcPts val="2500"/>
              </a:lnSpc>
              <a:buNone/>
            </a:pPr>
            <a:r>
              <a:rPr lang="en-US" sz="2050" dirty="0">
                <a:solidFill>
                  <a:srgbClr val="FFFFFF"/>
                </a:solidFill>
                <a:latin typeface="DM Sans" pitchFamily="2" charset="0"/>
                <a:ea typeface="Space Grotesk Medium" pitchFamily="34" charset="-122"/>
                <a:cs typeface="Space Grotesk Medium" pitchFamily="34" charset="-120"/>
              </a:rPr>
              <a:t>Model Evaluation &amp; Results</a:t>
            </a:r>
            <a:endParaRPr lang="en-US" sz="2050" dirty="0">
              <a:latin typeface="DM Sans" pitchFamily="2" charset="0"/>
            </a:endParaRPr>
          </a:p>
        </p:txBody>
      </p:sp>
      <p:sp>
        <p:nvSpPr>
          <p:cNvPr id="5" name="Text 3"/>
          <p:cNvSpPr/>
          <p:nvPr/>
        </p:nvSpPr>
        <p:spPr>
          <a:xfrm>
            <a:off x="1041946" y="1324868"/>
            <a:ext cx="3274963" cy="350862"/>
          </a:xfrm>
          <a:prstGeom prst="rect">
            <a:avLst/>
          </a:prstGeom>
          <a:noFill/>
          <a:ln/>
        </p:spPr>
        <p:txBody>
          <a:bodyPr wrap="none" lIns="0" tIns="0" rIns="0" bIns="0" rtlCol="0" anchor="t"/>
          <a:lstStyle/>
          <a:p>
            <a:pPr marL="0" indent="0" algn="ctr">
              <a:lnSpc>
                <a:spcPts val="2750"/>
              </a:lnSpc>
              <a:buNone/>
            </a:pPr>
            <a:r>
              <a:rPr lang="en-US" sz="2750" dirty="0">
                <a:solidFill>
                  <a:srgbClr val="FFFFFF"/>
                </a:solidFill>
                <a:latin typeface="DM Sans" pitchFamily="2" charset="0"/>
                <a:ea typeface="Space Grotesk Medium" pitchFamily="34" charset="-122"/>
                <a:cs typeface="Space Grotesk Medium" pitchFamily="34" charset="-120"/>
              </a:rPr>
              <a:t>92.81%</a:t>
            </a:r>
            <a:endParaRPr lang="en-US" sz="2750" dirty="0">
              <a:latin typeface="DM Sans" pitchFamily="2" charset="0"/>
            </a:endParaRPr>
          </a:p>
        </p:txBody>
      </p:sp>
      <p:sp>
        <p:nvSpPr>
          <p:cNvPr id="6" name="Text 4"/>
          <p:cNvSpPr/>
          <p:nvPr/>
        </p:nvSpPr>
        <p:spPr>
          <a:xfrm>
            <a:off x="2014910" y="1788616"/>
            <a:ext cx="1329035" cy="159469"/>
          </a:xfrm>
          <a:prstGeom prst="rect">
            <a:avLst/>
          </a:prstGeom>
          <a:noFill/>
          <a:ln/>
        </p:spPr>
        <p:txBody>
          <a:bodyPr wrap="none" lIns="0" tIns="0" rIns="0" bIns="0" rtlCol="0" anchor="t"/>
          <a:lstStyle/>
          <a:p>
            <a:pPr marL="0" indent="0" algn="ctr">
              <a:lnSpc>
                <a:spcPts val="1250"/>
              </a:lnSpc>
              <a:buNone/>
            </a:pPr>
            <a:r>
              <a:rPr lang="en-US" sz="1000" dirty="0">
                <a:solidFill>
                  <a:srgbClr val="FFFFFF"/>
                </a:solidFill>
                <a:latin typeface="DM Sans" pitchFamily="2" charset="0"/>
                <a:ea typeface="Space Grotesk Medium" pitchFamily="34" charset="-122"/>
                <a:cs typeface="Space Grotesk Medium" pitchFamily="34" charset="-120"/>
              </a:rPr>
              <a:t>Isolation Forest</a:t>
            </a:r>
            <a:endParaRPr lang="en-US" sz="1000" dirty="0">
              <a:latin typeface="DM Sans" pitchFamily="2" charset="0"/>
            </a:endParaRPr>
          </a:p>
        </p:txBody>
      </p:sp>
      <p:sp>
        <p:nvSpPr>
          <p:cNvPr id="7" name="Text 5"/>
          <p:cNvSpPr/>
          <p:nvPr/>
        </p:nvSpPr>
        <p:spPr>
          <a:xfrm>
            <a:off x="496119" y="2027783"/>
            <a:ext cx="4366692" cy="260449"/>
          </a:xfrm>
          <a:prstGeom prst="rect">
            <a:avLst/>
          </a:prstGeom>
          <a:noFill/>
          <a:ln/>
        </p:spPr>
        <p:txBody>
          <a:bodyPr wrap="square" lIns="0" tIns="0" rIns="0" bIns="0" rtlCol="0" anchor="t"/>
          <a:lstStyle/>
          <a:p>
            <a:pPr marL="0" indent="0" algn="ctr">
              <a:lnSpc>
                <a:spcPts val="1000"/>
              </a:lnSpc>
              <a:buNone/>
            </a:pPr>
            <a:r>
              <a:rPr lang="en-US" sz="800" dirty="0">
                <a:solidFill>
                  <a:srgbClr val="FFFFFF"/>
                </a:solidFill>
                <a:latin typeface="DM Sans" pitchFamily="2" charset="0"/>
                <a:ea typeface="DM Sans" pitchFamily="34" charset="-122"/>
                <a:cs typeface="Times New Roman" panose="02020603050405020304" pitchFamily="18" charset="0"/>
              </a:rPr>
              <a:t>Highest accuracy — superior robustness in isolating anomalies within complex, high-variance industrial patterns</a:t>
            </a:r>
            <a:endParaRPr lang="en-US" sz="800" dirty="0">
              <a:latin typeface="DM Sans" pitchFamily="2" charset="0"/>
            </a:endParaRPr>
          </a:p>
        </p:txBody>
      </p:sp>
      <p:sp>
        <p:nvSpPr>
          <p:cNvPr id="8" name="Text 6"/>
          <p:cNvSpPr/>
          <p:nvPr/>
        </p:nvSpPr>
        <p:spPr>
          <a:xfrm>
            <a:off x="1041946" y="2500833"/>
            <a:ext cx="3274963" cy="350862"/>
          </a:xfrm>
          <a:prstGeom prst="rect">
            <a:avLst/>
          </a:prstGeom>
          <a:noFill/>
          <a:ln/>
        </p:spPr>
        <p:txBody>
          <a:bodyPr wrap="none" lIns="0" tIns="0" rIns="0" bIns="0" rtlCol="0" anchor="t"/>
          <a:lstStyle/>
          <a:p>
            <a:pPr marL="0" indent="0" algn="ctr">
              <a:lnSpc>
                <a:spcPts val="2750"/>
              </a:lnSpc>
              <a:buNone/>
            </a:pPr>
            <a:r>
              <a:rPr lang="en-US" sz="2750" dirty="0">
                <a:solidFill>
                  <a:srgbClr val="FFFFFF"/>
                </a:solidFill>
                <a:latin typeface="DM Sans" pitchFamily="2" charset="0"/>
                <a:ea typeface="Space Grotesk Medium" pitchFamily="34" charset="-122"/>
                <a:cs typeface="Space Grotesk Medium" pitchFamily="34" charset="-120"/>
              </a:rPr>
              <a:t>92.65%</a:t>
            </a:r>
            <a:endParaRPr lang="en-US" sz="2750" dirty="0">
              <a:latin typeface="DM Sans" pitchFamily="2" charset="0"/>
            </a:endParaRPr>
          </a:p>
        </p:txBody>
      </p:sp>
      <p:sp>
        <p:nvSpPr>
          <p:cNvPr id="9" name="Text 7"/>
          <p:cNvSpPr/>
          <p:nvPr/>
        </p:nvSpPr>
        <p:spPr>
          <a:xfrm>
            <a:off x="2014910" y="2964582"/>
            <a:ext cx="1329035" cy="159469"/>
          </a:xfrm>
          <a:prstGeom prst="rect">
            <a:avLst/>
          </a:prstGeom>
          <a:noFill/>
          <a:ln/>
        </p:spPr>
        <p:txBody>
          <a:bodyPr wrap="none" lIns="0" tIns="0" rIns="0" bIns="0" rtlCol="0" anchor="t"/>
          <a:lstStyle/>
          <a:p>
            <a:pPr marL="0" indent="0" algn="ctr">
              <a:lnSpc>
                <a:spcPts val="1250"/>
              </a:lnSpc>
              <a:buNone/>
            </a:pPr>
            <a:r>
              <a:rPr lang="en-US" sz="1000" dirty="0">
                <a:solidFill>
                  <a:srgbClr val="FFFFFF"/>
                </a:solidFill>
                <a:latin typeface="DM Sans" pitchFamily="2" charset="0"/>
                <a:ea typeface="Space Grotesk Medium" pitchFamily="34" charset="-122"/>
                <a:cs typeface="Space Grotesk Medium" pitchFamily="34" charset="-120"/>
              </a:rPr>
              <a:t>K-Means</a:t>
            </a:r>
            <a:endParaRPr lang="en-US" sz="1000" dirty="0">
              <a:latin typeface="DM Sans" pitchFamily="2" charset="0"/>
            </a:endParaRPr>
          </a:p>
        </p:txBody>
      </p:sp>
      <p:sp>
        <p:nvSpPr>
          <p:cNvPr id="10" name="Text 8"/>
          <p:cNvSpPr/>
          <p:nvPr/>
        </p:nvSpPr>
        <p:spPr>
          <a:xfrm>
            <a:off x="496119" y="3203749"/>
            <a:ext cx="4366692" cy="130225"/>
          </a:xfrm>
          <a:prstGeom prst="rect">
            <a:avLst/>
          </a:prstGeom>
          <a:noFill/>
          <a:ln/>
        </p:spPr>
        <p:txBody>
          <a:bodyPr wrap="none" lIns="0" tIns="0" rIns="0" bIns="0" rtlCol="0" anchor="t"/>
          <a:lstStyle/>
          <a:p>
            <a:pPr marL="0" indent="0" algn="ctr">
              <a:lnSpc>
                <a:spcPts val="1000"/>
              </a:lnSpc>
              <a:buNone/>
            </a:pPr>
            <a:r>
              <a:rPr lang="en-US" sz="800" dirty="0">
                <a:solidFill>
                  <a:srgbClr val="FFFFFF"/>
                </a:solidFill>
                <a:latin typeface="DM Sans" pitchFamily="2" charset="0"/>
                <a:ea typeface="DM Sans" pitchFamily="34" charset="-122"/>
                <a:cs typeface="Times New Roman" panose="02020603050405020304" pitchFamily="18" charset="0"/>
              </a:rPr>
              <a:t>Strong performance on clearly separable cluster structures in normalised sensor data</a:t>
            </a:r>
            <a:endParaRPr lang="en-US" sz="800" dirty="0">
              <a:latin typeface="DM Sans" pitchFamily="2" charset="0"/>
            </a:endParaRPr>
          </a:p>
        </p:txBody>
      </p:sp>
      <p:sp>
        <p:nvSpPr>
          <p:cNvPr id="11" name="Text 9"/>
          <p:cNvSpPr/>
          <p:nvPr/>
        </p:nvSpPr>
        <p:spPr>
          <a:xfrm>
            <a:off x="1041946" y="3546574"/>
            <a:ext cx="3274963" cy="350862"/>
          </a:xfrm>
          <a:prstGeom prst="rect">
            <a:avLst/>
          </a:prstGeom>
          <a:noFill/>
          <a:ln/>
        </p:spPr>
        <p:txBody>
          <a:bodyPr wrap="none" lIns="0" tIns="0" rIns="0" bIns="0" rtlCol="0" anchor="t"/>
          <a:lstStyle/>
          <a:p>
            <a:pPr marL="0" indent="0" algn="ctr">
              <a:lnSpc>
                <a:spcPts val="2750"/>
              </a:lnSpc>
              <a:buNone/>
            </a:pPr>
            <a:r>
              <a:rPr lang="en-US" sz="2750" dirty="0">
                <a:solidFill>
                  <a:srgbClr val="FFFFFF"/>
                </a:solidFill>
                <a:latin typeface="DM Sans" pitchFamily="2" charset="0"/>
                <a:ea typeface="Space Grotesk Medium" pitchFamily="34" charset="-122"/>
                <a:cs typeface="Space Grotesk Medium" pitchFamily="34" charset="-120"/>
              </a:rPr>
              <a:t>92.44%</a:t>
            </a:r>
            <a:endParaRPr lang="en-US" sz="2750" dirty="0">
              <a:latin typeface="DM Sans" pitchFamily="2" charset="0"/>
            </a:endParaRPr>
          </a:p>
        </p:txBody>
      </p:sp>
      <p:sp>
        <p:nvSpPr>
          <p:cNvPr id="12" name="Text 10"/>
          <p:cNvSpPr/>
          <p:nvPr/>
        </p:nvSpPr>
        <p:spPr>
          <a:xfrm>
            <a:off x="2014910" y="4010323"/>
            <a:ext cx="1329035" cy="159469"/>
          </a:xfrm>
          <a:prstGeom prst="rect">
            <a:avLst/>
          </a:prstGeom>
          <a:noFill/>
          <a:ln/>
        </p:spPr>
        <p:txBody>
          <a:bodyPr wrap="none" lIns="0" tIns="0" rIns="0" bIns="0" rtlCol="0" anchor="t"/>
          <a:lstStyle/>
          <a:p>
            <a:pPr marL="0" indent="0" algn="ctr">
              <a:lnSpc>
                <a:spcPts val="1250"/>
              </a:lnSpc>
              <a:buNone/>
            </a:pPr>
            <a:r>
              <a:rPr lang="en-US" sz="1000" dirty="0">
                <a:solidFill>
                  <a:srgbClr val="FFFFFF"/>
                </a:solidFill>
                <a:latin typeface="DM Sans" pitchFamily="2" charset="0"/>
                <a:ea typeface="Space Grotesk Medium" pitchFamily="34" charset="-122"/>
                <a:cs typeface="Space Grotesk Medium" pitchFamily="34" charset="-120"/>
              </a:rPr>
              <a:t>One-Class SVM</a:t>
            </a:r>
            <a:endParaRPr lang="en-US" sz="1000" dirty="0">
              <a:latin typeface="DM Sans" pitchFamily="2" charset="0"/>
            </a:endParaRPr>
          </a:p>
        </p:txBody>
      </p:sp>
      <p:sp>
        <p:nvSpPr>
          <p:cNvPr id="13" name="Text 11"/>
          <p:cNvSpPr/>
          <p:nvPr/>
        </p:nvSpPr>
        <p:spPr>
          <a:xfrm>
            <a:off x="496119" y="4249489"/>
            <a:ext cx="4366692" cy="260449"/>
          </a:xfrm>
          <a:prstGeom prst="rect">
            <a:avLst/>
          </a:prstGeom>
          <a:noFill/>
          <a:ln/>
        </p:spPr>
        <p:txBody>
          <a:bodyPr wrap="square" lIns="0" tIns="0" rIns="0" bIns="0" rtlCol="0" anchor="t"/>
          <a:lstStyle/>
          <a:p>
            <a:pPr marL="0" indent="0" algn="ctr">
              <a:lnSpc>
                <a:spcPts val="1000"/>
              </a:lnSpc>
              <a:buNone/>
            </a:pPr>
            <a:r>
              <a:rPr lang="en-US" sz="800" dirty="0">
                <a:solidFill>
                  <a:srgbClr val="FFFFFF"/>
                </a:solidFill>
                <a:latin typeface="DM Sans" pitchFamily="2" charset="0"/>
                <a:ea typeface="DM Sans" pitchFamily="34" charset="-122"/>
                <a:cs typeface="Times New Roman" panose="02020603050405020304" pitchFamily="18" charset="0"/>
              </a:rPr>
              <a:t>Competitive accuracy, though more sensitive to hyperparameter tuning and feature scaling</a:t>
            </a:r>
            <a:endParaRPr lang="en-US" sz="800" dirty="0">
              <a:latin typeface="DM Sans" pitchFamily="2" charset="0"/>
            </a:endParaRPr>
          </a:p>
        </p:txBody>
      </p:sp>
      <p:pic>
        <p:nvPicPr>
          <p:cNvPr id="14" name="Image 0" descr="preencoded.png"/>
          <p:cNvPicPr>
            <a:picLocks noChangeAspect="1"/>
          </p:cNvPicPr>
          <p:nvPr/>
        </p:nvPicPr>
        <p:blipFill>
          <a:blip r:embed="rId3"/>
          <a:stretch>
            <a:fillRect/>
          </a:stretch>
        </p:blipFill>
        <p:spPr>
          <a:xfrm>
            <a:off x="5126980" y="1928366"/>
            <a:ext cx="2644155" cy="1564481"/>
          </a:xfrm>
          <a:prstGeom prst="rect">
            <a:avLst/>
          </a:prstGeom>
        </p:spPr>
      </p:pic>
      <p:sp>
        <p:nvSpPr>
          <p:cNvPr id="15" name="Text 12"/>
          <p:cNvSpPr/>
          <p:nvPr/>
        </p:nvSpPr>
        <p:spPr>
          <a:xfrm>
            <a:off x="7414728" y="2177668"/>
            <a:ext cx="121890" cy="85279"/>
          </a:xfrm>
          <a:prstGeom prst="rect">
            <a:avLst/>
          </a:prstGeom>
          <a:noFill/>
          <a:ln/>
        </p:spPr>
        <p:txBody>
          <a:bodyPr wrap="square" lIns="19050" tIns="19050" rIns="19050" bIns="19050" rtlCol="0" anchor="t"/>
          <a:lstStyle/>
          <a:p>
            <a:pPr marL="0" indent="0" algn="l">
              <a:lnSpc>
                <a:spcPts val="350"/>
              </a:lnSpc>
              <a:buNone/>
            </a:pPr>
            <a:r>
              <a:rPr lang="en-US" sz="350" dirty="0">
                <a:solidFill>
                  <a:srgbClr val="FFFFFF"/>
                </a:solidFill>
                <a:latin typeface="DM Sans" pitchFamily="2" charset="0"/>
                <a:ea typeface="-apple-system, BlinkMacSystemFont, Segoe UI, Roboto, Helvetica Neue, Arial, sans-serif Medium" pitchFamily="34" charset="-122"/>
                <a:cs typeface="Times New Roman" panose="02020603050405020304" pitchFamily="18" charset="0"/>
              </a:rPr>
              <a:t>92.8</a:t>
            </a:r>
            <a:endParaRPr lang="en-US" sz="350" dirty="0">
              <a:latin typeface="DM Sans" pitchFamily="2" charset="0"/>
              <a:cs typeface="Times New Roman" panose="02020603050405020304" pitchFamily="18" charset="0"/>
            </a:endParaRPr>
          </a:p>
        </p:txBody>
      </p:sp>
      <p:sp>
        <p:nvSpPr>
          <p:cNvPr id="16" name="Text 13"/>
          <p:cNvSpPr/>
          <p:nvPr/>
        </p:nvSpPr>
        <p:spPr>
          <a:xfrm>
            <a:off x="7412505" y="2602959"/>
            <a:ext cx="121890" cy="85279"/>
          </a:xfrm>
          <a:prstGeom prst="rect">
            <a:avLst/>
          </a:prstGeom>
          <a:noFill/>
          <a:ln/>
        </p:spPr>
        <p:txBody>
          <a:bodyPr wrap="square" lIns="19050" tIns="19050" rIns="19050" bIns="19050" rtlCol="0" anchor="t"/>
          <a:lstStyle/>
          <a:p>
            <a:pPr marL="0" indent="0" algn="l">
              <a:lnSpc>
                <a:spcPts val="350"/>
              </a:lnSpc>
              <a:buNone/>
            </a:pPr>
            <a:r>
              <a:rPr lang="en-US" sz="350" dirty="0">
                <a:solidFill>
                  <a:srgbClr val="FFFFFF"/>
                </a:solidFill>
                <a:latin typeface="DM Sans" pitchFamily="2" charset="0"/>
                <a:ea typeface="-apple-system, BlinkMacSystemFont, Segoe UI, Roboto, Helvetica Neue, Arial, sans-serif Medium" pitchFamily="34" charset="-122"/>
                <a:cs typeface="Times New Roman" panose="02020603050405020304" pitchFamily="18" charset="0"/>
              </a:rPr>
              <a:t>92.7</a:t>
            </a:r>
            <a:endParaRPr lang="en-US" sz="350" dirty="0">
              <a:latin typeface="DM Sans" pitchFamily="2" charset="0"/>
              <a:cs typeface="Times New Roman" panose="02020603050405020304" pitchFamily="18" charset="0"/>
            </a:endParaRPr>
          </a:p>
        </p:txBody>
      </p:sp>
      <p:sp>
        <p:nvSpPr>
          <p:cNvPr id="17" name="Text 14"/>
          <p:cNvSpPr/>
          <p:nvPr/>
        </p:nvSpPr>
        <p:spPr>
          <a:xfrm>
            <a:off x="7405643" y="3028251"/>
            <a:ext cx="121890" cy="85279"/>
          </a:xfrm>
          <a:prstGeom prst="rect">
            <a:avLst/>
          </a:prstGeom>
          <a:noFill/>
          <a:ln/>
        </p:spPr>
        <p:txBody>
          <a:bodyPr wrap="square" lIns="19050" tIns="19050" rIns="19050" bIns="19050" rtlCol="0" anchor="t"/>
          <a:lstStyle/>
          <a:p>
            <a:pPr marL="0" indent="0" algn="l">
              <a:lnSpc>
                <a:spcPts val="350"/>
              </a:lnSpc>
              <a:buNone/>
            </a:pPr>
            <a:r>
              <a:rPr lang="en-US" sz="350" dirty="0">
                <a:solidFill>
                  <a:srgbClr val="000000"/>
                </a:solidFill>
                <a:latin typeface="DM Sans" pitchFamily="2" charset="0"/>
                <a:ea typeface="-apple-system, BlinkMacSystemFont, Segoe UI, Roboto, Helvetica Neue, Arial, sans-serif Medium" pitchFamily="34" charset="-122"/>
                <a:cs typeface="Times New Roman" panose="02020603050405020304" pitchFamily="18" charset="0"/>
              </a:rPr>
              <a:t>92.4</a:t>
            </a:r>
            <a:endParaRPr lang="en-US" sz="350" dirty="0">
              <a:latin typeface="DM Sans" pitchFamily="2" charset="0"/>
              <a:cs typeface="Times New Roman" panose="02020603050405020304" pitchFamily="18" charset="0"/>
            </a:endParaRPr>
          </a:p>
        </p:txBody>
      </p:sp>
      <p:sp>
        <p:nvSpPr>
          <p:cNvPr id="18" name="Text 15"/>
          <p:cNvSpPr/>
          <p:nvPr/>
        </p:nvSpPr>
        <p:spPr>
          <a:xfrm>
            <a:off x="5126980" y="3558629"/>
            <a:ext cx="3525589" cy="312539"/>
          </a:xfrm>
          <a:prstGeom prst="rect">
            <a:avLst/>
          </a:prstGeom>
          <a:noFill/>
          <a:ln/>
        </p:spPr>
        <p:txBody>
          <a:bodyPr wrap="square" lIns="0" tIns="0" rIns="0" bIns="0" rtlCol="0" anchor="t"/>
          <a:lstStyle/>
          <a:p>
            <a:pPr marL="0" indent="0" algn="l">
              <a:lnSpc>
                <a:spcPts val="800"/>
              </a:lnSpc>
              <a:buNone/>
            </a:pPr>
            <a:r>
              <a:rPr lang="en-US" sz="650" b="1" dirty="0">
                <a:solidFill>
                  <a:srgbClr val="FFFFFF"/>
                </a:solidFill>
                <a:latin typeface="DM Sans" pitchFamily="2" charset="0"/>
                <a:ea typeface="DM Sans" pitchFamily="34" charset="-122"/>
                <a:cs typeface="Times New Roman" panose="02020603050405020304" pitchFamily="18" charset="0"/>
              </a:rPr>
              <a:t>Isolation Forest</a:t>
            </a:r>
            <a:r>
              <a:rPr lang="en-US" sz="650" dirty="0">
                <a:solidFill>
                  <a:srgbClr val="FFFFFF"/>
                </a:solidFill>
                <a:latin typeface="DM Sans" pitchFamily="2" charset="0"/>
                <a:ea typeface="DM Sans" pitchFamily="34" charset="-122"/>
                <a:cs typeface="Times New Roman" panose="02020603050405020304" pitchFamily="18" charset="0"/>
              </a:rPr>
              <a:t> leads due to its ability to efficiently isolate anomalies in complex, high-variance industrial data through random partitioning — without requiring a predefined cluster structure.</a:t>
            </a:r>
            <a:endParaRPr lang="en-US" sz="650" dirty="0">
              <a:latin typeface="DM Sans"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pic>
        <p:nvPicPr>
          <p:cNvPr id="3" name="Image 1" descr="preencoded.png"/>
          <p:cNvPicPr>
            <a:picLocks noChangeAspect="1"/>
          </p:cNvPicPr>
          <p:nvPr/>
        </p:nvPicPr>
        <p:blipFill>
          <a:blip r:embed="rId4"/>
          <a:stretch>
            <a:fillRect/>
          </a:stretch>
        </p:blipFill>
        <p:spPr>
          <a:xfrm>
            <a:off x="5995988" y="842963"/>
            <a:ext cx="2867025" cy="3457575"/>
          </a:xfrm>
          <a:prstGeom prst="rect">
            <a:avLst/>
          </a:prstGeom>
        </p:spPr>
      </p:pic>
      <p:sp>
        <p:nvSpPr>
          <p:cNvPr id="4" name="Shape 0"/>
          <p:cNvSpPr/>
          <p:nvPr/>
        </p:nvSpPr>
        <p:spPr>
          <a:xfrm>
            <a:off x="488379" y="406747"/>
            <a:ext cx="828675" cy="207913"/>
          </a:xfrm>
          <a:prstGeom prst="roundRect">
            <a:avLst>
              <a:gd name="adj" fmla="val 7249"/>
            </a:avLst>
          </a:prstGeom>
          <a:solidFill>
            <a:srgbClr val="4A5F73"/>
          </a:solidFill>
          <a:ln/>
        </p:spPr>
      </p:sp>
      <p:sp>
        <p:nvSpPr>
          <p:cNvPr id="5" name="Text 1"/>
          <p:cNvSpPr/>
          <p:nvPr/>
        </p:nvSpPr>
        <p:spPr>
          <a:xfrm>
            <a:off x="563687" y="444401"/>
            <a:ext cx="678061" cy="132606"/>
          </a:xfrm>
          <a:prstGeom prst="rect">
            <a:avLst/>
          </a:prstGeom>
          <a:noFill/>
          <a:ln/>
        </p:spPr>
        <p:txBody>
          <a:bodyPr wrap="none" lIns="0" tIns="0" rIns="0" bIns="0" rtlCol="0" anchor="t"/>
          <a:lstStyle/>
          <a:p>
            <a:pPr marL="0" indent="0" algn="l">
              <a:lnSpc>
                <a:spcPts val="1000"/>
              </a:lnSpc>
              <a:buNone/>
            </a:pPr>
            <a:r>
              <a:rPr lang="en-US" sz="750" dirty="0">
                <a:solidFill>
                  <a:srgbClr val="FFFFFF"/>
                </a:solidFill>
                <a:latin typeface="DM Sans" pitchFamily="2" charset="0"/>
                <a:ea typeface="DM Sans" pitchFamily="34" charset="-122"/>
                <a:cs typeface="Times New Roman" panose="02020603050405020304" pitchFamily="18" charset="0"/>
              </a:rPr>
              <a:t>SYSTEM DEMO</a:t>
            </a:r>
            <a:endParaRPr lang="en-US" sz="750" dirty="0">
              <a:latin typeface="DM Sans" pitchFamily="2" charset="0"/>
            </a:endParaRPr>
          </a:p>
        </p:txBody>
      </p:sp>
      <p:sp>
        <p:nvSpPr>
          <p:cNvPr id="6" name="Text 2"/>
          <p:cNvSpPr/>
          <p:nvPr/>
        </p:nvSpPr>
        <p:spPr>
          <a:xfrm>
            <a:off x="488379" y="659160"/>
            <a:ext cx="3499321" cy="376833"/>
          </a:xfrm>
          <a:prstGeom prst="rect">
            <a:avLst/>
          </a:prstGeom>
          <a:noFill/>
          <a:ln/>
        </p:spPr>
        <p:txBody>
          <a:bodyPr wrap="none" lIns="0" tIns="0" rIns="0" bIns="0" rtlCol="0" anchor="t"/>
          <a:lstStyle/>
          <a:p>
            <a:pPr marL="0" indent="0" algn="l">
              <a:lnSpc>
                <a:spcPts val="2950"/>
              </a:lnSpc>
              <a:buNone/>
            </a:pPr>
            <a:r>
              <a:rPr lang="en-US" sz="2450" dirty="0">
                <a:solidFill>
                  <a:srgbClr val="FFFFFF"/>
                </a:solidFill>
                <a:latin typeface="DM Sans" pitchFamily="2" charset="0"/>
                <a:ea typeface="Space Grotesk Medium" pitchFamily="34" charset="-122"/>
                <a:cs typeface="Space Grotesk Medium" pitchFamily="34" charset="-120"/>
              </a:rPr>
              <a:t>Dashboard Capabilities</a:t>
            </a:r>
            <a:endParaRPr lang="en-US" sz="2450" dirty="0">
              <a:latin typeface="DM Sans" pitchFamily="2" charset="0"/>
            </a:endParaRPr>
          </a:p>
        </p:txBody>
      </p:sp>
      <p:sp>
        <p:nvSpPr>
          <p:cNvPr id="7" name="Shape 3"/>
          <p:cNvSpPr/>
          <p:nvPr/>
        </p:nvSpPr>
        <p:spPr>
          <a:xfrm>
            <a:off x="488379" y="1202829"/>
            <a:ext cx="4738241" cy="800026"/>
          </a:xfrm>
          <a:prstGeom prst="roundRect">
            <a:avLst>
              <a:gd name="adj" fmla="val 8572"/>
            </a:avLst>
          </a:prstGeom>
          <a:solidFill>
            <a:srgbClr val="4A5F73"/>
          </a:solidFill>
          <a:ln w="14288">
            <a:solidFill>
              <a:srgbClr val="171717"/>
            </a:solidFill>
            <a:prstDash val="solid"/>
          </a:ln>
        </p:spPr>
      </p:sp>
      <p:sp>
        <p:nvSpPr>
          <p:cNvPr id="8" name="Shape 4"/>
          <p:cNvSpPr/>
          <p:nvPr/>
        </p:nvSpPr>
        <p:spPr>
          <a:xfrm>
            <a:off x="474092" y="1202829"/>
            <a:ext cx="57150" cy="800026"/>
          </a:xfrm>
          <a:prstGeom prst="roundRect">
            <a:avLst>
              <a:gd name="adj" fmla="val 32965"/>
            </a:avLst>
          </a:prstGeom>
          <a:solidFill>
            <a:srgbClr val="171717"/>
          </a:solidFill>
          <a:ln/>
        </p:spPr>
      </p:sp>
      <p:sp>
        <p:nvSpPr>
          <p:cNvPr id="9" name="Text 5"/>
          <p:cNvSpPr/>
          <p:nvPr/>
        </p:nvSpPr>
        <p:spPr>
          <a:xfrm>
            <a:off x="671066" y="1342653"/>
            <a:ext cx="2172667" cy="188416"/>
          </a:xfrm>
          <a:prstGeom prst="rect">
            <a:avLst/>
          </a:prstGeom>
          <a:noFill/>
          <a:ln/>
        </p:spPr>
        <p:txBody>
          <a:bodyPr wrap="none" lIns="0" tIns="0" rIns="0" bIns="0" rtlCol="0" anchor="t"/>
          <a:lstStyle/>
          <a:p>
            <a:pPr marL="0" indent="0" algn="l">
              <a:lnSpc>
                <a:spcPts val="1450"/>
              </a:lnSpc>
              <a:buNone/>
            </a:pPr>
            <a:r>
              <a:rPr lang="en-US" sz="1200" dirty="0">
                <a:solidFill>
                  <a:srgbClr val="FFFFFF"/>
                </a:solidFill>
                <a:latin typeface="DM Sans" pitchFamily="2" charset="0"/>
                <a:ea typeface="Space Grotesk Medium" pitchFamily="34" charset="-122"/>
                <a:cs typeface="Space Grotesk Medium" pitchFamily="34" charset="-120"/>
              </a:rPr>
              <a:t>Real-Time Sensor Monitoring</a:t>
            </a:r>
            <a:endParaRPr lang="en-US" sz="1200" dirty="0">
              <a:latin typeface="DM Sans" pitchFamily="2" charset="0"/>
            </a:endParaRPr>
          </a:p>
        </p:txBody>
      </p:sp>
      <p:sp>
        <p:nvSpPr>
          <p:cNvPr id="10" name="Text 6"/>
          <p:cNvSpPr/>
          <p:nvPr/>
        </p:nvSpPr>
        <p:spPr>
          <a:xfrm>
            <a:off x="671066" y="1597819"/>
            <a:ext cx="4415730" cy="265212"/>
          </a:xfrm>
          <a:prstGeom prst="rect">
            <a:avLst/>
          </a:prstGeom>
          <a:noFill/>
          <a:ln/>
        </p:spPr>
        <p:txBody>
          <a:bodyPr wrap="square" lIns="0" tIns="0" rIns="0" bIns="0" rtlCol="0" anchor="t"/>
          <a:lstStyle/>
          <a:p>
            <a:pPr marL="0" indent="0" algn="l">
              <a:lnSpc>
                <a:spcPts val="1000"/>
              </a:lnSpc>
              <a:buNone/>
            </a:pPr>
            <a:r>
              <a:rPr lang="en-US" sz="750" dirty="0">
                <a:solidFill>
                  <a:srgbClr val="FFFFFF"/>
                </a:solidFill>
                <a:latin typeface="DM Sans" pitchFamily="2" charset="0"/>
                <a:ea typeface="DM Sans" pitchFamily="34" charset="-122"/>
                <a:cs typeface="Times New Roman" panose="02020603050405020304" pitchFamily="18" charset="0"/>
              </a:rPr>
              <a:t>Live visualisation of sensor streams with automatic anomaly flagging and colour-coded severity alerts rendered in the Angular frontend.</a:t>
            </a:r>
            <a:endParaRPr lang="en-US" sz="750" dirty="0">
              <a:latin typeface="DM Sans" pitchFamily="2" charset="0"/>
            </a:endParaRPr>
          </a:p>
        </p:txBody>
      </p:sp>
      <p:sp>
        <p:nvSpPr>
          <p:cNvPr id="11" name="Shape 7"/>
          <p:cNvSpPr/>
          <p:nvPr/>
        </p:nvSpPr>
        <p:spPr>
          <a:xfrm>
            <a:off x="488379" y="2114104"/>
            <a:ext cx="4738241" cy="800026"/>
          </a:xfrm>
          <a:prstGeom prst="roundRect">
            <a:avLst>
              <a:gd name="adj" fmla="val 8572"/>
            </a:avLst>
          </a:prstGeom>
          <a:solidFill>
            <a:srgbClr val="4A5F73"/>
          </a:solidFill>
          <a:ln w="14288">
            <a:solidFill>
              <a:srgbClr val="4A5F73"/>
            </a:solidFill>
            <a:prstDash val="solid"/>
          </a:ln>
        </p:spPr>
      </p:sp>
      <p:sp>
        <p:nvSpPr>
          <p:cNvPr id="12" name="Shape 8"/>
          <p:cNvSpPr/>
          <p:nvPr/>
        </p:nvSpPr>
        <p:spPr>
          <a:xfrm>
            <a:off x="474092" y="2114104"/>
            <a:ext cx="57150" cy="800026"/>
          </a:xfrm>
          <a:prstGeom prst="roundRect">
            <a:avLst>
              <a:gd name="adj" fmla="val 32965"/>
            </a:avLst>
          </a:prstGeom>
          <a:solidFill>
            <a:srgbClr val="4A5F73"/>
          </a:solidFill>
          <a:ln/>
        </p:spPr>
      </p:sp>
      <p:sp>
        <p:nvSpPr>
          <p:cNvPr id="13" name="Text 9"/>
          <p:cNvSpPr/>
          <p:nvPr/>
        </p:nvSpPr>
        <p:spPr>
          <a:xfrm>
            <a:off x="671066" y="2253928"/>
            <a:ext cx="2117452" cy="188416"/>
          </a:xfrm>
          <a:prstGeom prst="rect">
            <a:avLst/>
          </a:prstGeom>
          <a:noFill/>
          <a:ln/>
        </p:spPr>
        <p:txBody>
          <a:bodyPr wrap="none" lIns="0" tIns="0" rIns="0" bIns="0" rtlCol="0" anchor="t"/>
          <a:lstStyle/>
          <a:p>
            <a:pPr marL="0" indent="0" algn="l">
              <a:lnSpc>
                <a:spcPts val="1450"/>
              </a:lnSpc>
              <a:buNone/>
            </a:pPr>
            <a:r>
              <a:rPr lang="en-US" sz="1200" dirty="0">
                <a:solidFill>
                  <a:srgbClr val="FFFFFF"/>
                </a:solidFill>
                <a:latin typeface="DM Sans" pitchFamily="2" charset="0"/>
                <a:ea typeface="Space Grotesk Medium" pitchFamily="34" charset="-122"/>
                <a:cs typeface="Space Grotesk Medium" pitchFamily="34" charset="-120"/>
              </a:rPr>
              <a:t>Interactive Data Exploration</a:t>
            </a:r>
            <a:endParaRPr lang="en-US" sz="1200" dirty="0">
              <a:latin typeface="DM Sans" pitchFamily="2" charset="0"/>
            </a:endParaRPr>
          </a:p>
        </p:txBody>
      </p:sp>
      <p:sp>
        <p:nvSpPr>
          <p:cNvPr id="14" name="Text 10"/>
          <p:cNvSpPr/>
          <p:nvPr/>
        </p:nvSpPr>
        <p:spPr>
          <a:xfrm>
            <a:off x="671066" y="2509093"/>
            <a:ext cx="4415730" cy="265212"/>
          </a:xfrm>
          <a:prstGeom prst="rect">
            <a:avLst/>
          </a:prstGeom>
          <a:noFill/>
          <a:ln/>
        </p:spPr>
        <p:txBody>
          <a:bodyPr wrap="square" lIns="0" tIns="0" rIns="0" bIns="0" rtlCol="0" anchor="t"/>
          <a:lstStyle/>
          <a:p>
            <a:pPr marL="0" indent="0" algn="l">
              <a:lnSpc>
                <a:spcPts val="1000"/>
              </a:lnSpc>
              <a:buNone/>
            </a:pPr>
            <a:r>
              <a:rPr lang="en-US" sz="750" dirty="0">
                <a:solidFill>
                  <a:srgbClr val="FFFFFF"/>
                </a:solidFill>
                <a:latin typeface="DM Sans" pitchFamily="2" charset="0"/>
                <a:ea typeface="DM Sans" pitchFamily="34" charset="-122"/>
                <a:cs typeface="Times New Roman" panose="02020603050405020304" pitchFamily="18" charset="0"/>
              </a:rPr>
              <a:t>Filtering by sensor type, time range, and anomaly category. Users can drill down into individual readings and inspect pipeline-stage diagnostics.</a:t>
            </a:r>
            <a:endParaRPr lang="en-US" sz="750" dirty="0">
              <a:latin typeface="DM Sans" pitchFamily="2" charset="0"/>
            </a:endParaRPr>
          </a:p>
        </p:txBody>
      </p:sp>
      <p:sp>
        <p:nvSpPr>
          <p:cNvPr id="15" name="Shape 11"/>
          <p:cNvSpPr/>
          <p:nvPr/>
        </p:nvSpPr>
        <p:spPr>
          <a:xfrm>
            <a:off x="488379" y="3025378"/>
            <a:ext cx="4738241" cy="800026"/>
          </a:xfrm>
          <a:prstGeom prst="roundRect">
            <a:avLst>
              <a:gd name="adj" fmla="val 8572"/>
            </a:avLst>
          </a:prstGeom>
          <a:solidFill>
            <a:srgbClr val="4A5F73"/>
          </a:solidFill>
          <a:ln w="14288">
            <a:solidFill>
              <a:srgbClr val="2A2A2A"/>
            </a:solidFill>
            <a:prstDash val="solid"/>
          </a:ln>
        </p:spPr>
      </p:sp>
      <p:sp>
        <p:nvSpPr>
          <p:cNvPr id="16" name="Shape 12"/>
          <p:cNvSpPr/>
          <p:nvPr/>
        </p:nvSpPr>
        <p:spPr>
          <a:xfrm>
            <a:off x="474092" y="3025378"/>
            <a:ext cx="57150" cy="800026"/>
          </a:xfrm>
          <a:prstGeom prst="roundRect">
            <a:avLst>
              <a:gd name="adj" fmla="val 32965"/>
            </a:avLst>
          </a:prstGeom>
          <a:solidFill>
            <a:srgbClr val="2A2A2A"/>
          </a:solidFill>
          <a:ln/>
        </p:spPr>
      </p:sp>
      <p:sp>
        <p:nvSpPr>
          <p:cNvPr id="17" name="Text 13"/>
          <p:cNvSpPr/>
          <p:nvPr/>
        </p:nvSpPr>
        <p:spPr>
          <a:xfrm>
            <a:off x="671066" y="3165202"/>
            <a:ext cx="2293665" cy="188416"/>
          </a:xfrm>
          <a:prstGeom prst="rect">
            <a:avLst/>
          </a:prstGeom>
          <a:noFill/>
          <a:ln/>
        </p:spPr>
        <p:txBody>
          <a:bodyPr wrap="none" lIns="0" tIns="0" rIns="0" bIns="0" rtlCol="0" anchor="t"/>
          <a:lstStyle/>
          <a:p>
            <a:pPr marL="0" indent="0" algn="l">
              <a:lnSpc>
                <a:spcPts val="1450"/>
              </a:lnSpc>
              <a:buNone/>
            </a:pPr>
            <a:r>
              <a:rPr lang="en-US" sz="1200" dirty="0">
                <a:solidFill>
                  <a:srgbClr val="FFFFFF"/>
                </a:solidFill>
                <a:latin typeface="DM Sans" pitchFamily="2" charset="0"/>
                <a:ea typeface="Space Grotesk Medium" pitchFamily="34" charset="-122"/>
                <a:cs typeface="Space Grotesk Medium" pitchFamily="34" charset="-120"/>
              </a:rPr>
              <a:t>Model Selection &amp; Comparison</a:t>
            </a:r>
            <a:endParaRPr lang="en-US" sz="1200" dirty="0">
              <a:latin typeface="DM Sans" pitchFamily="2" charset="0"/>
            </a:endParaRPr>
          </a:p>
        </p:txBody>
      </p:sp>
      <p:sp>
        <p:nvSpPr>
          <p:cNvPr id="18" name="Text 14"/>
          <p:cNvSpPr/>
          <p:nvPr/>
        </p:nvSpPr>
        <p:spPr>
          <a:xfrm>
            <a:off x="671066" y="3420368"/>
            <a:ext cx="4415730" cy="265212"/>
          </a:xfrm>
          <a:prstGeom prst="rect">
            <a:avLst/>
          </a:prstGeom>
          <a:noFill/>
          <a:ln/>
        </p:spPr>
        <p:txBody>
          <a:bodyPr wrap="square" lIns="0" tIns="0" rIns="0" bIns="0" rtlCol="0" anchor="t"/>
          <a:lstStyle/>
          <a:p>
            <a:pPr marL="0" indent="0" algn="l">
              <a:lnSpc>
                <a:spcPts val="1000"/>
              </a:lnSpc>
              <a:buNone/>
            </a:pPr>
            <a:r>
              <a:rPr lang="en-US" sz="750" dirty="0">
                <a:solidFill>
                  <a:srgbClr val="FFFFFF"/>
                </a:solidFill>
                <a:latin typeface="DM Sans" pitchFamily="2" charset="0"/>
                <a:ea typeface="DM Sans" pitchFamily="34" charset="-122"/>
                <a:cs typeface="Times New Roman" panose="02020603050405020304" pitchFamily="18" charset="0"/>
              </a:rPr>
              <a:t>The dashboard allows switching between Isolation Forest, K-Means, and One-Class SVM, displaying model-specific anomaly predictions side-by-side.</a:t>
            </a:r>
            <a:endParaRPr lang="en-US" sz="750" dirty="0">
              <a:latin typeface="DM Sans" pitchFamily="2" charset="0"/>
            </a:endParaRPr>
          </a:p>
        </p:txBody>
      </p:sp>
      <p:sp>
        <p:nvSpPr>
          <p:cNvPr id="19" name="Shape 15"/>
          <p:cNvSpPr/>
          <p:nvPr/>
        </p:nvSpPr>
        <p:spPr>
          <a:xfrm>
            <a:off x="488379" y="3936653"/>
            <a:ext cx="4738241" cy="800026"/>
          </a:xfrm>
          <a:prstGeom prst="roundRect">
            <a:avLst>
              <a:gd name="adj" fmla="val 8572"/>
            </a:avLst>
          </a:prstGeom>
          <a:solidFill>
            <a:srgbClr val="4A5F73"/>
          </a:solidFill>
          <a:ln w="14288">
            <a:solidFill>
              <a:srgbClr val="4A5F73"/>
            </a:solidFill>
            <a:prstDash val="solid"/>
          </a:ln>
        </p:spPr>
      </p:sp>
      <p:sp>
        <p:nvSpPr>
          <p:cNvPr id="20" name="Shape 16"/>
          <p:cNvSpPr/>
          <p:nvPr/>
        </p:nvSpPr>
        <p:spPr>
          <a:xfrm>
            <a:off x="474092" y="3936653"/>
            <a:ext cx="57150" cy="800026"/>
          </a:xfrm>
          <a:prstGeom prst="roundRect">
            <a:avLst>
              <a:gd name="adj" fmla="val 32965"/>
            </a:avLst>
          </a:prstGeom>
          <a:solidFill>
            <a:srgbClr val="4A5F73"/>
          </a:solidFill>
          <a:ln/>
        </p:spPr>
      </p:sp>
      <p:sp>
        <p:nvSpPr>
          <p:cNvPr id="21" name="Text 17"/>
          <p:cNvSpPr/>
          <p:nvPr/>
        </p:nvSpPr>
        <p:spPr>
          <a:xfrm>
            <a:off x="671066" y="4076477"/>
            <a:ext cx="1838251" cy="188416"/>
          </a:xfrm>
          <a:prstGeom prst="rect">
            <a:avLst/>
          </a:prstGeom>
          <a:noFill/>
          <a:ln/>
        </p:spPr>
        <p:txBody>
          <a:bodyPr wrap="none" lIns="0" tIns="0" rIns="0" bIns="0" rtlCol="0" anchor="t"/>
          <a:lstStyle/>
          <a:p>
            <a:pPr marL="0" indent="0" algn="l">
              <a:lnSpc>
                <a:spcPts val="1450"/>
              </a:lnSpc>
              <a:buNone/>
            </a:pPr>
            <a:r>
              <a:rPr lang="en-US" sz="1200" dirty="0">
                <a:solidFill>
                  <a:srgbClr val="FFFFFF"/>
                </a:solidFill>
                <a:latin typeface="DM Sans" pitchFamily="2" charset="0"/>
                <a:ea typeface="Space Grotesk Medium" pitchFamily="34" charset="-122"/>
                <a:cs typeface="Space Grotesk Medium" pitchFamily="34" charset="-120"/>
              </a:rPr>
              <a:t>Pipeline Diagnostic View</a:t>
            </a:r>
            <a:endParaRPr lang="en-US" sz="1200" dirty="0">
              <a:latin typeface="DM Sans" pitchFamily="2" charset="0"/>
            </a:endParaRPr>
          </a:p>
        </p:txBody>
      </p:sp>
      <p:sp>
        <p:nvSpPr>
          <p:cNvPr id="22" name="Text 18"/>
          <p:cNvSpPr/>
          <p:nvPr/>
        </p:nvSpPr>
        <p:spPr>
          <a:xfrm>
            <a:off x="671066" y="4331643"/>
            <a:ext cx="4415730" cy="265212"/>
          </a:xfrm>
          <a:prstGeom prst="rect">
            <a:avLst/>
          </a:prstGeom>
          <a:noFill/>
          <a:ln/>
        </p:spPr>
        <p:txBody>
          <a:bodyPr wrap="square" lIns="0" tIns="0" rIns="0" bIns="0" rtlCol="0" anchor="t"/>
          <a:lstStyle/>
          <a:p>
            <a:pPr marL="0" indent="0" algn="l">
              <a:lnSpc>
                <a:spcPts val="1000"/>
              </a:lnSpc>
              <a:buNone/>
            </a:pPr>
            <a:r>
              <a:rPr lang="en-US" sz="750" dirty="0">
                <a:solidFill>
                  <a:srgbClr val="FFFFFF"/>
                </a:solidFill>
                <a:latin typeface="DM Sans" pitchFamily="2" charset="0"/>
                <a:ea typeface="DM Sans" pitchFamily="34" charset="-122"/>
                <a:cs typeface="Times New Roman" panose="02020603050405020304" pitchFamily="18" charset="0"/>
              </a:rPr>
              <a:t>Transparency layer exposing each of the 9 pipeline stages — including IQR filter activity and network delay metadata — for auditability and debugging.</a:t>
            </a:r>
            <a:endParaRPr lang="en-US" sz="750" dirty="0">
              <a:latin typeface="DM Sans"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496119" y="1853654"/>
            <a:ext cx="1381944" cy="182240"/>
          </a:xfrm>
          <a:prstGeom prst="roundRect">
            <a:avLst>
              <a:gd name="adj" fmla="val 7468"/>
            </a:avLst>
          </a:prstGeom>
          <a:solidFill>
            <a:srgbClr val="E6E6E6"/>
          </a:solidFill>
          <a:ln/>
        </p:spPr>
      </p:sp>
      <p:sp>
        <p:nvSpPr>
          <p:cNvPr id="4" name="Text 1"/>
          <p:cNvSpPr/>
          <p:nvPr/>
        </p:nvSpPr>
        <p:spPr>
          <a:xfrm>
            <a:off x="538981" y="509438"/>
            <a:ext cx="1245915" cy="114226"/>
          </a:xfrm>
          <a:prstGeom prst="rect">
            <a:avLst/>
          </a:prstGeom>
          <a:noFill/>
          <a:ln/>
        </p:spPr>
        <p:txBody>
          <a:bodyPr wrap="none" lIns="0" tIns="0" rIns="0" bIns="0" rtlCol="0" anchor="t"/>
          <a:lstStyle/>
          <a:p>
            <a:pPr marL="0" indent="0" algn="l">
              <a:lnSpc>
                <a:spcPts val="900"/>
              </a:lnSpc>
              <a:buNone/>
            </a:pPr>
            <a:r>
              <a:rPr lang="en-US" sz="700" dirty="0">
                <a:solidFill>
                  <a:srgbClr val="2A2A2A"/>
                </a:solidFill>
                <a:latin typeface="DM Sans" pitchFamily="2" charset="0"/>
                <a:ea typeface="DM Sans" pitchFamily="34" charset="-122"/>
                <a:cs typeface="Times New Roman" panose="02020603050405020304" pitchFamily="18" charset="0"/>
              </a:rPr>
              <a:t>LIMITATIONS &amp; FUTURE WORK</a:t>
            </a:r>
            <a:endParaRPr lang="en-US" sz="700" dirty="0">
              <a:latin typeface="DM Sans" pitchFamily="2" charset="0"/>
            </a:endParaRPr>
          </a:p>
        </p:txBody>
      </p:sp>
      <p:sp>
        <p:nvSpPr>
          <p:cNvPr id="5" name="Text 2"/>
          <p:cNvSpPr/>
          <p:nvPr/>
        </p:nvSpPr>
        <p:spPr>
          <a:xfrm>
            <a:off x="383456" y="630287"/>
            <a:ext cx="4205734" cy="340221"/>
          </a:xfrm>
          <a:prstGeom prst="rect">
            <a:avLst/>
          </a:prstGeom>
          <a:noFill/>
          <a:ln/>
        </p:spPr>
        <p:txBody>
          <a:bodyPr wrap="none" lIns="0" tIns="0" rIns="0" bIns="0" rtlCol="0" anchor="t"/>
          <a:lstStyle/>
          <a:p>
            <a:pPr marL="0" indent="0" algn="l">
              <a:lnSpc>
                <a:spcPts val="2650"/>
              </a:lnSpc>
              <a:buNone/>
            </a:pPr>
            <a:r>
              <a:rPr lang="en-US" sz="2200" dirty="0">
                <a:solidFill>
                  <a:srgbClr val="171717"/>
                </a:solidFill>
                <a:latin typeface="DM Sans" pitchFamily="2" charset="0"/>
                <a:ea typeface="Space Grotesk Medium" pitchFamily="34" charset="-122"/>
                <a:cs typeface="Space Grotesk Medium" pitchFamily="34" charset="-120"/>
              </a:rPr>
              <a:t>Limitations &amp; Future Directions</a:t>
            </a:r>
            <a:endParaRPr lang="en-US" sz="2200" dirty="0">
              <a:latin typeface="DM Sans" pitchFamily="2" charset="0"/>
            </a:endParaRPr>
          </a:p>
        </p:txBody>
      </p:sp>
      <p:sp>
        <p:nvSpPr>
          <p:cNvPr id="6" name="Text 3"/>
          <p:cNvSpPr/>
          <p:nvPr/>
        </p:nvSpPr>
        <p:spPr>
          <a:xfrm>
            <a:off x="383456" y="1061219"/>
            <a:ext cx="1417662" cy="170111"/>
          </a:xfrm>
          <a:prstGeom prst="rect">
            <a:avLst/>
          </a:prstGeom>
          <a:noFill/>
          <a:ln/>
        </p:spPr>
        <p:txBody>
          <a:bodyPr wrap="none" lIns="0" tIns="0" rIns="0" bIns="0" rtlCol="0" anchor="t"/>
          <a:lstStyle/>
          <a:p>
            <a:pPr marL="0" indent="0" algn="l">
              <a:lnSpc>
                <a:spcPts val="1300"/>
              </a:lnSpc>
              <a:buNone/>
            </a:pPr>
            <a:r>
              <a:rPr lang="en-US" sz="1100" dirty="0">
                <a:solidFill>
                  <a:srgbClr val="171717"/>
                </a:solidFill>
                <a:latin typeface="DM Sans" pitchFamily="2" charset="0"/>
                <a:ea typeface="Space Grotesk Medium" pitchFamily="34" charset="-122"/>
                <a:cs typeface="Space Grotesk Medium" pitchFamily="34" charset="-120"/>
              </a:rPr>
              <a:t>Current Limitations</a:t>
            </a:r>
            <a:endParaRPr lang="en-US" sz="1100" dirty="0">
              <a:latin typeface="DM Sans" pitchFamily="2" charset="0"/>
            </a:endParaRPr>
          </a:p>
        </p:txBody>
      </p:sp>
      <p:sp>
        <p:nvSpPr>
          <p:cNvPr id="7" name="Shape 4"/>
          <p:cNvSpPr/>
          <p:nvPr/>
        </p:nvSpPr>
        <p:spPr>
          <a:xfrm>
            <a:off x="409724" y="1614673"/>
            <a:ext cx="3937546" cy="858887"/>
          </a:xfrm>
          <a:prstGeom prst="roundRect">
            <a:avLst>
              <a:gd name="adj" fmla="val 7985"/>
            </a:avLst>
          </a:prstGeom>
          <a:solidFill>
            <a:srgbClr val="E5E5E3"/>
          </a:solidFill>
          <a:ln w="14288">
            <a:solidFill>
              <a:srgbClr val="171717"/>
            </a:solidFill>
            <a:prstDash val="solid"/>
          </a:ln>
        </p:spPr>
      </p:sp>
      <p:sp>
        <p:nvSpPr>
          <p:cNvPr id="8" name="Shape 5"/>
          <p:cNvSpPr/>
          <p:nvPr/>
        </p:nvSpPr>
        <p:spPr>
          <a:xfrm>
            <a:off x="394656" y="1614673"/>
            <a:ext cx="57150" cy="858887"/>
          </a:xfrm>
          <a:prstGeom prst="roundRect">
            <a:avLst>
              <a:gd name="adj" fmla="val 29767"/>
            </a:avLst>
          </a:prstGeom>
          <a:solidFill>
            <a:srgbClr val="171717"/>
          </a:solidFill>
          <a:ln/>
        </p:spPr>
      </p:sp>
      <p:sp>
        <p:nvSpPr>
          <p:cNvPr id="9" name="Text 6"/>
          <p:cNvSpPr/>
          <p:nvPr/>
        </p:nvSpPr>
        <p:spPr>
          <a:xfrm>
            <a:off x="580281" y="1742367"/>
            <a:ext cx="2107481" cy="170111"/>
          </a:xfrm>
          <a:prstGeom prst="rect">
            <a:avLst/>
          </a:prstGeom>
          <a:noFill/>
          <a:ln/>
        </p:spPr>
        <p:txBody>
          <a:bodyPr wrap="none" lIns="0" tIns="0" rIns="0" bIns="0" rtlCol="0" anchor="t"/>
          <a:lstStyle/>
          <a:p>
            <a:pPr marL="0" indent="0" algn="l">
              <a:lnSpc>
                <a:spcPts val="1300"/>
              </a:lnSpc>
              <a:buNone/>
            </a:pPr>
            <a:r>
              <a:rPr lang="en-US" sz="1100" dirty="0">
                <a:solidFill>
                  <a:srgbClr val="2A2A2A"/>
                </a:solidFill>
                <a:latin typeface="DM Sans" pitchFamily="2" charset="0"/>
                <a:ea typeface="Space Grotesk Medium" pitchFamily="34" charset="-122"/>
                <a:cs typeface="Space Grotesk Medium" pitchFamily="34" charset="-120"/>
              </a:rPr>
              <a:t>Complex Non-Linear Anomalies</a:t>
            </a:r>
            <a:endParaRPr lang="en-US" sz="1100" dirty="0">
              <a:latin typeface="DM Sans" pitchFamily="2" charset="0"/>
            </a:endParaRPr>
          </a:p>
        </p:txBody>
      </p:sp>
      <p:sp>
        <p:nvSpPr>
          <p:cNvPr id="10" name="Text 7"/>
          <p:cNvSpPr/>
          <p:nvPr/>
        </p:nvSpPr>
        <p:spPr>
          <a:xfrm>
            <a:off x="580281" y="2003189"/>
            <a:ext cx="3639294" cy="342677"/>
          </a:xfrm>
          <a:prstGeom prst="rect">
            <a:avLst/>
          </a:prstGeom>
          <a:noFill/>
          <a:ln/>
        </p:spPr>
        <p:txBody>
          <a:bodyPr wrap="square" lIns="0" tIns="0" rIns="0" bIns="0" rtlCol="0" anchor="t"/>
          <a:lstStyle/>
          <a:p>
            <a:pPr marL="0" indent="0" algn="l">
              <a:lnSpc>
                <a:spcPts val="900"/>
              </a:lnSpc>
              <a:buNone/>
            </a:pPr>
            <a:r>
              <a:rPr lang="en-US" sz="700" dirty="0">
                <a:solidFill>
                  <a:srgbClr val="2A2A2A"/>
                </a:solidFill>
                <a:latin typeface="DM Sans" pitchFamily="2" charset="0"/>
                <a:ea typeface="DM Sans" pitchFamily="34" charset="-122"/>
                <a:cs typeface="Times New Roman" panose="02020603050405020304" pitchFamily="18" charset="0"/>
              </a:rPr>
              <a:t>The current models struggle to reliably detect highly complex, non-linear anomaly patterns in extremely high-noise environments where decision boundaries are ambiguous.</a:t>
            </a:r>
            <a:endParaRPr lang="en-US" sz="700" dirty="0">
              <a:latin typeface="DM Sans" pitchFamily="2" charset="0"/>
            </a:endParaRPr>
          </a:p>
        </p:txBody>
      </p:sp>
      <p:sp>
        <p:nvSpPr>
          <p:cNvPr id="11" name="Shape 8"/>
          <p:cNvSpPr/>
          <p:nvPr/>
        </p:nvSpPr>
        <p:spPr>
          <a:xfrm>
            <a:off x="424012" y="3039294"/>
            <a:ext cx="3937546" cy="744662"/>
          </a:xfrm>
          <a:prstGeom prst="roundRect">
            <a:avLst>
              <a:gd name="adj" fmla="val 9210"/>
            </a:avLst>
          </a:prstGeom>
          <a:solidFill>
            <a:srgbClr val="E5E5E3"/>
          </a:solidFill>
          <a:ln w="14288">
            <a:solidFill>
              <a:srgbClr val="4A5F73"/>
            </a:solidFill>
            <a:prstDash val="solid"/>
          </a:ln>
        </p:spPr>
      </p:sp>
      <p:sp>
        <p:nvSpPr>
          <p:cNvPr id="12" name="Shape 9"/>
          <p:cNvSpPr/>
          <p:nvPr/>
        </p:nvSpPr>
        <p:spPr>
          <a:xfrm>
            <a:off x="409724" y="3039294"/>
            <a:ext cx="57150" cy="744662"/>
          </a:xfrm>
          <a:prstGeom prst="roundRect">
            <a:avLst>
              <a:gd name="adj" fmla="val 29767"/>
            </a:avLst>
          </a:prstGeom>
          <a:solidFill>
            <a:srgbClr val="4A5F73"/>
          </a:solidFill>
          <a:ln/>
        </p:spPr>
      </p:sp>
      <p:sp>
        <p:nvSpPr>
          <p:cNvPr id="13" name="Text 10"/>
          <p:cNvSpPr/>
          <p:nvPr/>
        </p:nvSpPr>
        <p:spPr>
          <a:xfrm>
            <a:off x="594569" y="3166988"/>
            <a:ext cx="1808336" cy="170111"/>
          </a:xfrm>
          <a:prstGeom prst="rect">
            <a:avLst/>
          </a:prstGeom>
          <a:noFill/>
          <a:ln/>
        </p:spPr>
        <p:txBody>
          <a:bodyPr wrap="none" lIns="0" tIns="0" rIns="0" bIns="0" rtlCol="0" anchor="t"/>
          <a:lstStyle/>
          <a:p>
            <a:pPr marL="0" indent="0" algn="l">
              <a:lnSpc>
                <a:spcPts val="1300"/>
              </a:lnSpc>
              <a:buNone/>
            </a:pPr>
            <a:r>
              <a:rPr lang="en-US" sz="1100" dirty="0">
                <a:solidFill>
                  <a:srgbClr val="2A2A2A"/>
                </a:solidFill>
                <a:latin typeface="DM Sans" pitchFamily="2" charset="0"/>
                <a:ea typeface="Space Grotesk Medium" pitchFamily="34" charset="-122"/>
                <a:cs typeface="Space Grotesk Medium" pitchFamily="34" charset="-120"/>
              </a:rPr>
              <a:t>Single-Model Dependency</a:t>
            </a:r>
            <a:endParaRPr lang="en-US" sz="1100" dirty="0">
              <a:latin typeface="DM Sans" pitchFamily="2" charset="0"/>
            </a:endParaRPr>
          </a:p>
        </p:txBody>
      </p:sp>
      <p:sp>
        <p:nvSpPr>
          <p:cNvPr id="14" name="Text 11"/>
          <p:cNvSpPr/>
          <p:nvPr/>
        </p:nvSpPr>
        <p:spPr>
          <a:xfrm>
            <a:off x="594569" y="3427810"/>
            <a:ext cx="3639294" cy="228451"/>
          </a:xfrm>
          <a:prstGeom prst="rect">
            <a:avLst/>
          </a:prstGeom>
          <a:noFill/>
          <a:ln/>
        </p:spPr>
        <p:txBody>
          <a:bodyPr wrap="square" lIns="0" tIns="0" rIns="0" bIns="0" rtlCol="0" anchor="t"/>
          <a:lstStyle/>
          <a:p>
            <a:pPr marL="0" indent="0" algn="l">
              <a:lnSpc>
                <a:spcPts val="900"/>
              </a:lnSpc>
              <a:buNone/>
            </a:pPr>
            <a:r>
              <a:rPr lang="en-US" sz="700" dirty="0">
                <a:solidFill>
                  <a:srgbClr val="2A2A2A"/>
                </a:solidFill>
                <a:latin typeface="DM Sans" pitchFamily="2" charset="0"/>
                <a:ea typeface="DM Sans" pitchFamily="34" charset="-122"/>
                <a:cs typeface="Times New Roman" panose="02020603050405020304" pitchFamily="18" charset="0"/>
              </a:rPr>
              <a:t>Each model operates independently. In edge cases, no single algorithm consistently outperforms others across all sensor types and noise profiles.</a:t>
            </a:r>
            <a:endParaRPr lang="en-US" sz="700" dirty="0">
              <a:latin typeface="DM Sans" pitchFamily="2" charset="0"/>
            </a:endParaRPr>
          </a:p>
        </p:txBody>
      </p:sp>
      <p:sp>
        <p:nvSpPr>
          <p:cNvPr id="15" name="Shape 12"/>
          <p:cNvSpPr/>
          <p:nvPr/>
        </p:nvSpPr>
        <p:spPr>
          <a:xfrm>
            <a:off x="4633466" y="435769"/>
            <a:ext cx="4100810" cy="4271739"/>
          </a:xfrm>
          <a:prstGeom prst="roundRect">
            <a:avLst>
              <a:gd name="adj" fmla="val 788"/>
            </a:avLst>
          </a:prstGeom>
          <a:solidFill>
            <a:srgbClr val="4A5F73"/>
          </a:solidFill>
          <a:ln/>
        </p:spPr>
      </p:sp>
      <p:sp>
        <p:nvSpPr>
          <p:cNvPr id="16" name="Text 13"/>
          <p:cNvSpPr/>
          <p:nvPr/>
        </p:nvSpPr>
        <p:spPr>
          <a:xfrm>
            <a:off x="6268492" y="1186308"/>
            <a:ext cx="1417662" cy="170111"/>
          </a:xfrm>
          <a:prstGeom prst="rect">
            <a:avLst/>
          </a:prstGeom>
          <a:noFill/>
          <a:ln/>
        </p:spPr>
        <p:txBody>
          <a:bodyPr wrap="none" lIns="0" tIns="0" rIns="0" bIns="0" rtlCol="0" anchor="t"/>
          <a:lstStyle/>
          <a:p>
            <a:pPr marL="0" indent="0" algn="l">
              <a:lnSpc>
                <a:spcPts val="1300"/>
              </a:lnSpc>
              <a:buNone/>
            </a:pPr>
            <a:r>
              <a:rPr lang="en-US" sz="1100" dirty="0">
                <a:solidFill>
                  <a:srgbClr val="FFFFFF"/>
                </a:solidFill>
                <a:latin typeface="DM Sans" pitchFamily="2" charset="0"/>
                <a:ea typeface="Space Grotesk Medium" pitchFamily="34" charset="-122"/>
                <a:cs typeface="Space Grotesk Medium" pitchFamily="34" charset="-120"/>
              </a:rPr>
              <a:t>Future Work</a:t>
            </a:r>
            <a:endParaRPr lang="en-US" sz="1100" dirty="0">
              <a:latin typeface="DM Sans" pitchFamily="2" charset="0"/>
            </a:endParaRPr>
          </a:p>
        </p:txBody>
      </p:sp>
      <p:sp>
        <p:nvSpPr>
          <p:cNvPr id="17" name="Text 14"/>
          <p:cNvSpPr/>
          <p:nvPr/>
        </p:nvSpPr>
        <p:spPr>
          <a:xfrm>
            <a:off x="4746873" y="1714500"/>
            <a:ext cx="3873996" cy="2763813"/>
          </a:xfrm>
          <a:prstGeom prst="rect">
            <a:avLst/>
          </a:prstGeom>
          <a:noFill/>
          <a:ln/>
        </p:spPr>
        <p:txBody>
          <a:bodyPr wrap="square" lIns="0" tIns="0" rIns="0" bIns="0" rtlCol="0" anchor="t"/>
          <a:lstStyle/>
          <a:p>
            <a:pPr marL="342900" indent="-342900" algn="l">
              <a:lnSpc>
                <a:spcPts val="1100"/>
              </a:lnSpc>
              <a:buSzPct val="100000"/>
              <a:buChar char="•"/>
            </a:pPr>
            <a:r>
              <a:rPr lang="en-US" sz="850" b="1" dirty="0">
                <a:solidFill>
                  <a:srgbClr val="FFFFFF"/>
                </a:solidFill>
                <a:latin typeface="DM Sans" pitchFamily="2" charset="0"/>
                <a:ea typeface="DM Sans" pitchFamily="34" charset="-122"/>
                <a:cs typeface="Times New Roman" panose="02020603050405020304" pitchFamily="18" charset="0"/>
              </a:rPr>
              <a:t>Hybrid Ensemble Learning</a:t>
            </a:r>
            <a:r>
              <a:rPr lang="en-US" sz="850" dirty="0">
                <a:solidFill>
                  <a:srgbClr val="FFFFFF"/>
                </a:solidFill>
                <a:latin typeface="DM Sans" pitchFamily="2" charset="0"/>
                <a:ea typeface="DM Sans" pitchFamily="34" charset="-122"/>
                <a:cs typeface="Times New Roman" panose="02020603050405020304" pitchFamily="18" charset="0"/>
              </a:rPr>
              <a:t> — combine Isolation Forest, K-Means, and One-Class SVM via voting or stacking to improve robustness across diverse anomaly types</a:t>
            </a:r>
            <a:endParaRPr lang="en-US" sz="850" dirty="0">
              <a:latin typeface="DM Sans" pitchFamily="2" charset="0"/>
            </a:endParaRPr>
          </a:p>
          <a:p>
            <a:pPr marL="342900" indent="-342900" algn="l">
              <a:lnSpc>
                <a:spcPts val="1100"/>
              </a:lnSpc>
              <a:buSzPct val="100000"/>
              <a:buChar char="•"/>
            </a:pPr>
            <a:endParaRPr lang="en-US" sz="850" b="1" dirty="0">
              <a:solidFill>
                <a:srgbClr val="FFFFFF"/>
              </a:solidFill>
              <a:latin typeface="DM Sans" pitchFamily="2" charset="0"/>
              <a:ea typeface="DM Sans" pitchFamily="34" charset="-122"/>
              <a:cs typeface="Times New Roman" panose="02020603050405020304" pitchFamily="18" charset="0"/>
            </a:endParaRPr>
          </a:p>
          <a:p>
            <a:pPr marL="342900" indent="-342900" algn="l">
              <a:lnSpc>
                <a:spcPts val="1100"/>
              </a:lnSpc>
              <a:buSzPct val="100000"/>
              <a:buChar char="•"/>
            </a:pPr>
            <a:endParaRPr lang="en-US" sz="850" b="1" dirty="0">
              <a:solidFill>
                <a:srgbClr val="FFFFFF"/>
              </a:solidFill>
              <a:latin typeface="DM Sans" pitchFamily="2" charset="0"/>
              <a:ea typeface="DM Sans" pitchFamily="34" charset="-122"/>
              <a:cs typeface="Times New Roman" panose="02020603050405020304" pitchFamily="18" charset="0"/>
            </a:endParaRPr>
          </a:p>
          <a:p>
            <a:pPr marL="342900" indent="-342900" algn="l">
              <a:lnSpc>
                <a:spcPts val="1100"/>
              </a:lnSpc>
              <a:buSzPct val="100000"/>
              <a:buChar char="•"/>
            </a:pPr>
            <a:r>
              <a:rPr lang="en-US" sz="850" b="1" dirty="0">
                <a:solidFill>
                  <a:srgbClr val="FFFFFF"/>
                </a:solidFill>
                <a:latin typeface="DM Sans" pitchFamily="2" charset="0"/>
                <a:ea typeface="DM Sans" pitchFamily="34" charset="-122"/>
                <a:cs typeface="Times New Roman" panose="02020603050405020304" pitchFamily="18" charset="0"/>
              </a:rPr>
              <a:t>Deep Learning Integration</a:t>
            </a:r>
            <a:r>
              <a:rPr lang="en-US" sz="850" dirty="0">
                <a:solidFill>
                  <a:srgbClr val="FFFFFF"/>
                </a:solidFill>
                <a:latin typeface="DM Sans" pitchFamily="2" charset="0"/>
                <a:ea typeface="DM Sans" pitchFamily="34" charset="-122"/>
                <a:cs typeface="Times New Roman" panose="02020603050405020304" pitchFamily="18" charset="0"/>
              </a:rPr>
              <a:t> — explore LSTM autoencoders for temporal anomaly patterns in sequential sensor streams</a:t>
            </a:r>
            <a:endParaRPr lang="en-US" sz="850" dirty="0">
              <a:latin typeface="DM Sans" pitchFamily="2" charset="0"/>
            </a:endParaRPr>
          </a:p>
          <a:p>
            <a:pPr marL="342900" indent="-342900" algn="l">
              <a:lnSpc>
                <a:spcPts val="1100"/>
              </a:lnSpc>
              <a:buSzPct val="100000"/>
              <a:buChar char="•"/>
            </a:pPr>
            <a:endParaRPr lang="en-US" sz="850" b="1" dirty="0">
              <a:solidFill>
                <a:srgbClr val="FFFFFF"/>
              </a:solidFill>
              <a:latin typeface="DM Sans" pitchFamily="2" charset="0"/>
              <a:ea typeface="DM Sans" pitchFamily="34" charset="-122"/>
              <a:cs typeface="Times New Roman" panose="02020603050405020304" pitchFamily="18" charset="0"/>
            </a:endParaRPr>
          </a:p>
          <a:p>
            <a:pPr marL="342900" indent="-342900" algn="l">
              <a:lnSpc>
                <a:spcPts val="1100"/>
              </a:lnSpc>
              <a:buSzPct val="100000"/>
              <a:buChar char="•"/>
            </a:pPr>
            <a:endParaRPr lang="en-US" sz="850" b="1" dirty="0">
              <a:solidFill>
                <a:srgbClr val="FFFFFF"/>
              </a:solidFill>
              <a:latin typeface="DM Sans" pitchFamily="2" charset="0"/>
              <a:ea typeface="DM Sans" pitchFamily="34" charset="-122"/>
              <a:cs typeface="Times New Roman" panose="02020603050405020304" pitchFamily="18" charset="0"/>
            </a:endParaRPr>
          </a:p>
          <a:p>
            <a:pPr marL="342900" indent="-342900" algn="l">
              <a:lnSpc>
                <a:spcPts val="1100"/>
              </a:lnSpc>
              <a:buSzPct val="100000"/>
              <a:buChar char="•"/>
            </a:pPr>
            <a:r>
              <a:rPr lang="en-US" sz="850" b="1" dirty="0">
                <a:solidFill>
                  <a:srgbClr val="FFFFFF"/>
                </a:solidFill>
                <a:latin typeface="DM Sans" pitchFamily="2" charset="0"/>
                <a:ea typeface="DM Sans" pitchFamily="34" charset="-122"/>
                <a:cs typeface="Times New Roman" panose="02020603050405020304" pitchFamily="18" charset="0"/>
              </a:rPr>
              <a:t>Edge Deployment</a:t>
            </a:r>
            <a:r>
              <a:rPr lang="en-US" sz="850" dirty="0">
                <a:solidFill>
                  <a:srgbClr val="FFFFFF"/>
                </a:solidFill>
                <a:latin typeface="DM Sans" pitchFamily="2" charset="0"/>
                <a:ea typeface="DM Sans" pitchFamily="34" charset="-122"/>
                <a:cs typeface="Times New Roman" panose="02020603050405020304" pitchFamily="18" charset="0"/>
              </a:rPr>
              <a:t> — optimise the pipeline and models for on-device inference at the IoT edge layer, reducing latency</a:t>
            </a:r>
            <a:endParaRPr lang="en-US" sz="850" dirty="0">
              <a:latin typeface="DM Sans" pitchFamily="2" charset="0"/>
            </a:endParaRPr>
          </a:p>
          <a:p>
            <a:pPr marL="342900" indent="-342900">
              <a:lnSpc>
                <a:spcPts val="1100"/>
              </a:lnSpc>
              <a:buSzPct val="100000"/>
              <a:buChar char="•"/>
            </a:pPr>
            <a:endParaRPr lang="en-US" sz="850" b="1" dirty="0">
              <a:solidFill>
                <a:srgbClr val="FFFFFF"/>
              </a:solidFill>
              <a:latin typeface="DM Sans" pitchFamily="2" charset="0"/>
              <a:ea typeface="DM Sans" pitchFamily="34" charset="-122"/>
              <a:cs typeface="Times New Roman" panose="02020603050405020304" pitchFamily="18" charset="0"/>
            </a:endParaRPr>
          </a:p>
          <a:p>
            <a:pPr marL="342900" indent="-342900">
              <a:lnSpc>
                <a:spcPts val="1100"/>
              </a:lnSpc>
              <a:buSzPct val="100000"/>
              <a:buChar char="•"/>
            </a:pPr>
            <a:endParaRPr lang="en-US" sz="850" b="1" dirty="0">
              <a:solidFill>
                <a:srgbClr val="FFFFFF"/>
              </a:solidFill>
              <a:latin typeface="DM Sans" pitchFamily="2" charset="0"/>
              <a:ea typeface="DM Sans" pitchFamily="34" charset="-122"/>
              <a:cs typeface="Times New Roman" panose="02020603050405020304" pitchFamily="18" charset="0"/>
            </a:endParaRPr>
          </a:p>
          <a:p>
            <a:pPr marL="342900" indent="-342900">
              <a:lnSpc>
                <a:spcPts val="1100"/>
              </a:lnSpc>
              <a:buSzPct val="100000"/>
              <a:buChar char="•"/>
            </a:pPr>
            <a:r>
              <a:rPr lang="en-US" sz="850" b="1" dirty="0">
                <a:solidFill>
                  <a:srgbClr val="FFFFFF"/>
                </a:solidFill>
                <a:latin typeface="DM Sans" pitchFamily="2" charset="0"/>
                <a:ea typeface="DM Sans" pitchFamily="34" charset="-122"/>
                <a:cs typeface="Times New Roman" panose="02020603050405020304" pitchFamily="18" charset="0"/>
              </a:rPr>
              <a:t>Adaptive IQR </a:t>
            </a:r>
            <a:r>
              <a:rPr lang="en-US" sz="850" dirty="0">
                <a:solidFill>
                  <a:srgbClr val="FFFFFF"/>
                </a:solidFill>
                <a:latin typeface="DM Sans" pitchFamily="2" charset="0"/>
                <a:ea typeface="DM Sans" pitchFamily="34" charset="-122"/>
                <a:cs typeface="Times New Roman" panose="02020603050405020304" pitchFamily="18" charset="0"/>
              </a:rPr>
              <a:t>—</a:t>
            </a:r>
            <a:r>
              <a:rPr lang="en-US" sz="900" b="1" dirty="0">
                <a:solidFill>
                  <a:srgbClr val="464646"/>
                </a:solidFill>
                <a:latin typeface="DM Sans" pitchFamily="2" charset="0"/>
                <a:ea typeface="Inter Medium" pitchFamily="34" charset="-122"/>
                <a:cs typeface="Times New Roman" panose="02020603050405020304" pitchFamily="18" charset="0"/>
              </a:rPr>
              <a:t> </a:t>
            </a:r>
            <a:r>
              <a:rPr lang="en-US" sz="900" dirty="0">
                <a:solidFill>
                  <a:schemeClr val="bg1"/>
                </a:solidFill>
                <a:latin typeface="DM Sans" pitchFamily="2" charset="0"/>
                <a:ea typeface="Inter Medium" pitchFamily="34" charset="-122"/>
                <a:cs typeface="Inter Medium" pitchFamily="34" charset="-120"/>
              </a:rPr>
              <a:t>Implement sensor-specific, adaptive IQR thresholds that adjust to operational context</a:t>
            </a:r>
            <a:endParaRPr lang="en-US" sz="850" dirty="0">
              <a:solidFill>
                <a:schemeClr val="bg1"/>
              </a:solidFill>
              <a:latin typeface="DM Sans"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483171"/>
            <a:ext cx="710282" cy="182240"/>
          </a:xfrm>
          <a:prstGeom prst="roundRect">
            <a:avLst>
              <a:gd name="adj" fmla="val 7468"/>
            </a:avLst>
          </a:prstGeom>
          <a:solidFill>
            <a:srgbClr val="E6E6E6"/>
          </a:solidFill>
          <a:ln/>
        </p:spPr>
      </p:sp>
      <p:sp>
        <p:nvSpPr>
          <p:cNvPr id="3" name="Text 1"/>
          <p:cNvSpPr/>
          <p:nvPr/>
        </p:nvSpPr>
        <p:spPr>
          <a:xfrm>
            <a:off x="564133" y="517178"/>
            <a:ext cx="574253" cy="114226"/>
          </a:xfrm>
          <a:prstGeom prst="rect">
            <a:avLst/>
          </a:prstGeom>
          <a:noFill/>
          <a:ln/>
        </p:spPr>
        <p:txBody>
          <a:bodyPr wrap="none" lIns="0" tIns="0" rIns="0" bIns="0" rtlCol="0" anchor="t"/>
          <a:lstStyle/>
          <a:p>
            <a:pPr marL="0" indent="0" algn="l">
              <a:lnSpc>
                <a:spcPts val="900"/>
              </a:lnSpc>
              <a:buNone/>
            </a:pPr>
            <a:r>
              <a:rPr lang="en-US" sz="700" dirty="0">
                <a:solidFill>
                  <a:srgbClr val="2A2A2A"/>
                </a:solidFill>
                <a:latin typeface="DM Sans" pitchFamily="2" charset="0"/>
                <a:ea typeface="DM Sans" pitchFamily="34" charset="-122"/>
                <a:cs typeface="Times New Roman" panose="02020603050405020304" pitchFamily="18" charset="0"/>
              </a:rPr>
              <a:t>CONCLUSION</a:t>
            </a:r>
            <a:endParaRPr lang="en-US" sz="700" dirty="0">
              <a:latin typeface="DM Sans" pitchFamily="2" charset="0"/>
            </a:endParaRPr>
          </a:p>
        </p:txBody>
      </p:sp>
      <p:sp>
        <p:nvSpPr>
          <p:cNvPr id="4" name="Text 2"/>
          <p:cNvSpPr/>
          <p:nvPr/>
        </p:nvSpPr>
        <p:spPr>
          <a:xfrm>
            <a:off x="496119" y="701650"/>
            <a:ext cx="3890888" cy="340221"/>
          </a:xfrm>
          <a:prstGeom prst="rect">
            <a:avLst/>
          </a:prstGeom>
          <a:noFill/>
          <a:ln/>
        </p:spPr>
        <p:txBody>
          <a:bodyPr wrap="none" lIns="0" tIns="0" rIns="0" bIns="0" rtlCol="0" anchor="t"/>
          <a:lstStyle/>
          <a:p>
            <a:pPr marL="0" indent="0" algn="l">
              <a:lnSpc>
                <a:spcPts val="2650"/>
              </a:lnSpc>
              <a:buNone/>
            </a:pPr>
            <a:r>
              <a:rPr lang="en-US" sz="2200" dirty="0">
                <a:solidFill>
                  <a:srgbClr val="171717"/>
                </a:solidFill>
                <a:latin typeface="DM Sans" pitchFamily="2" charset="0"/>
                <a:ea typeface="Space Grotesk Medium" pitchFamily="34" charset="-122"/>
                <a:cs typeface="Space Grotesk Medium" pitchFamily="34" charset="-120"/>
              </a:rPr>
              <a:t>Conclusion &amp; Key Takeaways</a:t>
            </a:r>
            <a:endParaRPr lang="en-US" sz="2200" dirty="0">
              <a:latin typeface="DM Sans" pitchFamily="2" charset="0"/>
            </a:endParaRPr>
          </a:p>
        </p:txBody>
      </p:sp>
      <p:pic>
        <p:nvPicPr>
          <p:cNvPr id="5" name="Image 0" descr="preencoded.png"/>
          <p:cNvPicPr>
            <a:picLocks noChangeAspect="1"/>
          </p:cNvPicPr>
          <p:nvPr/>
        </p:nvPicPr>
        <p:blipFill>
          <a:blip r:embed="rId3"/>
          <a:stretch>
            <a:fillRect/>
          </a:stretch>
        </p:blipFill>
        <p:spPr>
          <a:xfrm>
            <a:off x="496119" y="1177900"/>
            <a:ext cx="2717229" cy="453628"/>
          </a:xfrm>
          <a:prstGeom prst="rect">
            <a:avLst/>
          </a:prstGeom>
        </p:spPr>
      </p:pic>
      <p:sp>
        <p:nvSpPr>
          <p:cNvPr id="6" name="Text 3"/>
          <p:cNvSpPr/>
          <p:nvPr/>
        </p:nvSpPr>
        <p:spPr>
          <a:xfrm>
            <a:off x="609526" y="1722239"/>
            <a:ext cx="1417662" cy="170111"/>
          </a:xfrm>
          <a:prstGeom prst="rect">
            <a:avLst/>
          </a:prstGeom>
          <a:noFill/>
          <a:ln/>
        </p:spPr>
        <p:txBody>
          <a:bodyPr wrap="none" lIns="0" tIns="0" rIns="0" bIns="0" rtlCol="0" anchor="t"/>
          <a:lstStyle/>
          <a:p>
            <a:pPr marL="0" indent="0" algn="l">
              <a:lnSpc>
                <a:spcPts val="1300"/>
              </a:lnSpc>
              <a:buNone/>
            </a:pPr>
            <a:r>
              <a:rPr lang="en-US" sz="1100" dirty="0">
                <a:solidFill>
                  <a:srgbClr val="2A2A2A"/>
                </a:solidFill>
                <a:latin typeface="DM Sans" pitchFamily="2" charset="0"/>
                <a:ea typeface="Space Grotesk Medium" pitchFamily="34" charset="-122"/>
                <a:cs typeface="Space Grotesk Medium" pitchFamily="34" charset="-120"/>
              </a:rPr>
              <a:t>Robust Pipeline</a:t>
            </a:r>
            <a:endParaRPr lang="en-US" sz="1100" dirty="0">
              <a:latin typeface="DM Sans" pitchFamily="2" charset="0"/>
            </a:endParaRPr>
          </a:p>
        </p:txBody>
      </p:sp>
      <p:pic>
        <p:nvPicPr>
          <p:cNvPr id="8" name="Image 1" descr="preencoded.png"/>
          <p:cNvPicPr>
            <a:picLocks noChangeAspect="1"/>
          </p:cNvPicPr>
          <p:nvPr/>
        </p:nvPicPr>
        <p:blipFill>
          <a:blip r:embed="rId4"/>
          <a:stretch>
            <a:fillRect/>
          </a:stretch>
        </p:blipFill>
        <p:spPr>
          <a:xfrm>
            <a:off x="3213348" y="1177900"/>
            <a:ext cx="2717229" cy="453628"/>
          </a:xfrm>
          <a:prstGeom prst="rect">
            <a:avLst/>
          </a:prstGeom>
        </p:spPr>
      </p:pic>
      <p:sp>
        <p:nvSpPr>
          <p:cNvPr id="9" name="Text 5"/>
          <p:cNvSpPr/>
          <p:nvPr/>
        </p:nvSpPr>
        <p:spPr>
          <a:xfrm>
            <a:off x="3326755" y="1722239"/>
            <a:ext cx="1476524" cy="170111"/>
          </a:xfrm>
          <a:prstGeom prst="rect">
            <a:avLst/>
          </a:prstGeom>
          <a:noFill/>
          <a:ln/>
        </p:spPr>
        <p:txBody>
          <a:bodyPr wrap="none" lIns="0" tIns="0" rIns="0" bIns="0" rtlCol="0" anchor="t"/>
          <a:lstStyle/>
          <a:p>
            <a:pPr marL="0" indent="0" algn="l">
              <a:lnSpc>
                <a:spcPts val="1300"/>
              </a:lnSpc>
              <a:buNone/>
            </a:pPr>
            <a:r>
              <a:rPr lang="en-US" sz="1100" dirty="0">
                <a:solidFill>
                  <a:srgbClr val="2A2A2A"/>
                </a:solidFill>
                <a:latin typeface="DM Sans" pitchFamily="2" charset="0"/>
                <a:ea typeface="Space Grotesk Medium" pitchFamily="34" charset="-122"/>
                <a:cs typeface="Space Grotesk Medium" pitchFamily="34" charset="-120"/>
              </a:rPr>
              <a:t>Scalable Architecture</a:t>
            </a:r>
            <a:endParaRPr lang="en-US" sz="1100" dirty="0">
              <a:latin typeface="DM Sans" pitchFamily="2" charset="0"/>
            </a:endParaRPr>
          </a:p>
        </p:txBody>
      </p:sp>
      <p:pic>
        <p:nvPicPr>
          <p:cNvPr id="11" name="Image 2" descr="preencoded.png"/>
          <p:cNvPicPr>
            <a:picLocks noChangeAspect="1"/>
          </p:cNvPicPr>
          <p:nvPr/>
        </p:nvPicPr>
        <p:blipFill>
          <a:blip r:embed="rId5"/>
          <a:stretch>
            <a:fillRect/>
          </a:stretch>
        </p:blipFill>
        <p:spPr>
          <a:xfrm>
            <a:off x="5930578" y="1177900"/>
            <a:ext cx="2717229" cy="453628"/>
          </a:xfrm>
          <a:prstGeom prst="rect">
            <a:avLst/>
          </a:prstGeom>
        </p:spPr>
      </p:pic>
      <p:sp>
        <p:nvSpPr>
          <p:cNvPr id="12" name="Text 7"/>
          <p:cNvSpPr/>
          <p:nvPr/>
        </p:nvSpPr>
        <p:spPr>
          <a:xfrm>
            <a:off x="6043985" y="1722239"/>
            <a:ext cx="1417662" cy="170111"/>
          </a:xfrm>
          <a:prstGeom prst="rect">
            <a:avLst/>
          </a:prstGeom>
          <a:noFill/>
          <a:ln/>
        </p:spPr>
        <p:txBody>
          <a:bodyPr wrap="none" lIns="0" tIns="0" rIns="0" bIns="0" rtlCol="0" anchor="t"/>
          <a:lstStyle/>
          <a:p>
            <a:pPr marL="0" indent="0" algn="l">
              <a:lnSpc>
                <a:spcPts val="1300"/>
              </a:lnSpc>
              <a:buNone/>
            </a:pPr>
            <a:r>
              <a:rPr lang="en-US" sz="1100" dirty="0">
                <a:solidFill>
                  <a:srgbClr val="2A2A2A"/>
                </a:solidFill>
                <a:latin typeface="DM Sans" pitchFamily="2" charset="0"/>
                <a:ea typeface="Space Grotesk Medium" pitchFamily="34" charset="-122"/>
                <a:cs typeface="Space Grotesk Medium" pitchFamily="34" charset="-120"/>
              </a:rPr>
              <a:t>Strong Results</a:t>
            </a:r>
            <a:endParaRPr lang="en-US" sz="1100" dirty="0">
              <a:latin typeface="DM Sans" pitchFamily="2" charset="0"/>
            </a:endParaRPr>
          </a:p>
        </p:txBody>
      </p:sp>
      <p:sp>
        <p:nvSpPr>
          <p:cNvPr id="17" name="Text 12"/>
          <p:cNvSpPr/>
          <p:nvPr/>
        </p:nvSpPr>
        <p:spPr>
          <a:xfrm>
            <a:off x="666676" y="2881164"/>
            <a:ext cx="5324921" cy="285750"/>
          </a:xfrm>
          <a:prstGeom prst="rect">
            <a:avLst/>
          </a:prstGeom>
          <a:noFill/>
          <a:ln/>
        </p:spPr>
        <p:txBody>
          <a:bodyPr wrap="square" lIns="0" tIns="0" rIns="0" bIns="0" rtlCol="0" anchor="t"/>
          <a:lstStyle/>
          <a:p>
            <a:pPr marL="0" indent="0" algn="l">
              <a:lnSpc>
                <a:spcPts val="1100"/>
              </a:lnSpc>
              <a:buNone/>
            </a:pPr>
            <a:endParaRPr lang="en-US" sz="850" dirty="0">
              <a:latin typeface="DM Sans" pitchFamily="2" charset="0"/>
            </a:endParaRPr>
          </a:p>
        </p:txBody>
      </p:sp>
      <p:sp>
        <p:nvSpPr>
          <p:cNvPr id="20" name="Text 15"/>
          <p:cNvSpPr/>
          <p:nvPr/>
        </p:nvSpPr>
        <p:spPr>
          <a:xfrm>
            <a:off x="666676" y="3513013"/>
            <a:ext cx="5324921" cy="285750"/>
          </a:xfrm>
          <a:prstGeom prst="rect">
            <a:avLst/>
          </a:prstGeom>
          <a:noFill/>
          <a:ln/>
        </p:spPr>
        <p:txBody>
          <a:bodyPr wrap="square" lIns="0" tIns="0" rIns="0" bIns="0" rtlCol="0" anchor="t"/>
          <a:lstStyle/>
          <a:p>
            <a:pPr marL="0" indent="0" algn="l">
              <a:lnSpc>
                <a:spcPts val="1100"/>
              </a:lnSpc>
              <a:buNone/>
            </a:pPr>
            <a:endParaRPr lang="en-US" sz="850" dirty="0">
              <a:latin typeface="DM Sans" pitchFamily="2" charset="0"/>
            </a:endParaRPr>
          </a:p>
        </p:txBody>
      </p:sp>
      <p:sp>
        <p:nvSpPr>
          <p:cNvPr id="24" name="Text 19"/>
          <p:cNvSpPr/>
          <p:nvPr/>
        </p:nvSpPr>
        <p:spPr>
          <a:xfrm>
            <a:off x="6400726" y="3178448"/>
            <a:ext cx="2251844" cy="469478"/>
          </a:xfrm>
          <a:prstGeom prst="rect">
            <a:avLst/>
          </a:prstGeom>
          <a:noFill/>
          <a:ln/>
        </p:spPr>
        <p:txBody>
          <a:bodyPr wrap="none" lIns="0" tIns="0" rIns="0" bIns="0" rtlCol="0" anchor="t"/>
          <a:lstStyle/>
          <a:p>
            <a:pPr marL="0" indent="0" algn="l">
              <a:lnSpc>
                <a:spcPts val="3650"/>
              </a:lnSpc>
              <a:buNone/>
            </a:pPr>
            <a:endParaRPr lang="en-US" sz="3050" dirty="0">
              <a:latin typeface="DM Sans" pitchFamily="2" charset="0"/>
            </a:endParaRPr>
          </a:p>
        </p:txBody>
      </p:sp>
      <p:sp>
        <p:nvSpPr>
          <p:cNvPr id="30" name="Shape 1">
            <a:extLst>
              <a:ext uri="{FF2B5EF4-FFF2-40B4-BE49-F238E27FC236}">
                <a16:creationId xmlns:a16="http://schemas.microsoft.com/office/drawing/2014/main" id="{35203AFB-33A8-B6E4-CF2D-74C5CAAE0C59}"/>
              </a:ext>
            </a:extLst>
          </p:cNvPr>
          <p:cNvSpPr/>
          <p:nvPr/>
        </p:nvSpPr>
        <p:spPr>
          <a:xfrm>
            <a:off x="496118" y="2083629"/>
            <a:ext cx="2622724" cy="1497285"/>
          </a:xfrm>
          <a:prstGeom prst="roundRect">
            <a:avLst>
              <a:gd name="adj" fmla="val 1420"/>
            </a:avLst>
          </a:prstGeom>
          <a:solidFill>
            <a:srgbClr val="F2EEEE"/>
          </a:solidFill>
          <a:ln/>
        </p:spPr>
      </p:sp>
      <p:sp>
        <p:nvSpPr>
          <p:cNvPr id="31" name="Text 2">
            <a:extLst>
              <a:ext uri="{FF2B5EF4-FFF2-40B4-BE49-F238E27FC236}">
                <a16:creationId xmlns:a16="http://schemas.microsoft.com/office/drawing/2014/main" id="{28236C4E-5268-25E0-5F9D-0F8635E2ACB3}"/>
              </a:ext>
            </a:extLst>
          </p:cNvPr>
          <p:cNvSpPr/>
          <p:nvPr/>
        </p:nvSpPr>
        <p:spPr>
          <a:xfrm>
            <a:off x="637877" y="2217501"/>
            <a:ext cx="1772022" cy="221456"/>
          </a:xfrm>
          <a:prstGeom prst="rect">
            <a:avLst/>
          </a:prstGeom>
          <a:noFill/>
          <a:ln/>
        </p:spPr>
        <p:txBody>
          <a:bodyPr wrap="none" lIns="0" tIns="0" rIns="0" bIns="0" rtlCol="0" anchor="t"/>
          <a:lstStyle/>
          <a:p>
            <a:pPr marL="0" indent="0" algn="l">
              <a:lnSpc>
                <a:spcPts val="1700"/>
              </a:lnSpc>
              <a:buNone/>
            </a:pPr>
            <a:r>
              <a:rPr lang="en-US" sz="1350" dirty="0">
                <a:solidFill>
                  <a:srgbClr val="464646"/>
                </a:solidFill>
                <a:latin typeface="DM Sans" pitchFamily="2" charset="0"/>
                <a:ea typeface="DM Sans Semi Bold" pitchFamily="34" charset="-122"/>
                <a:cs typeface="DM Sans Semi Bold" pitchFamily="34" charset="-120"/>
              </a:rPr>
              <a:t>Clean Data Wins</a:t>
            </a:r>
            <a:endParaRPr lang="en-US" sz="1350" dirty="0">
              <a:latin typeface="DM Sans" pitchFamily="2" charset="0"/>
            </a:endParaRPr>
          </a:p>
        </p:txBody>
      </p:sp>
      <p:sp>
        <p:nvSpPr>
          <p:cNvPr id="32" name="Text 3">
            <a:extLst>
              <a:ext uri="{FF2B5EF4-FFF2-40B4-BE49-F238E27FC236}">
                <a16:creationId xmlns:a16="http://schemas.microsoft.com/office/drawing/2014/main" id="{818DBB84-53DA-758A-A570-38285D79BDA8}"/>
              </a:ext>
            </a:extLst>
          </p:cNvPr>
          <p:cNvSpPr/>
          <p:nvPr/>
        </p:nvSpPr>
        <p:spPr>
          <a:xfrm>
            <a:off x="637877" y="2524012"/>
            <a:ext cx="2339206" cy="907256"/>
          </a:xfrm>
          <a:prstGeom prst="rect">
            <a:avLst/>
          </a:prstGeom>
          <a:noFill/>
          <a:ln/>
        </p:spPr>
        <p:txBody>
          <a:bodyPr wrap="square" lIns="0" tIns="0" rIns="0" bIns="0" rtlCol="0" anchor="t"/>
          <a:lstStyle/>
          <a:p>
            <a:pPr marL="0" indent="0" algn="l">
              <a:lnSpc>
                <a:spcPts val="1750"/>
              </a:lnSpc>
              <a:buNone/>
            </a:pPr>
            <a:r>
              <a:rPr lang="en-US" sz="1100" dirty="0">
                <a:solidFill>
                  <a:srgbClr val="464646"/>
                </a:solidFill>
                <a:latin typeface="DM Sans" pitchFamily="2" charset="0"/>
                <a:ea typeface="Inter Medium" pitchFamily="34" charset="-122"/>
                <a:cs typeface="Inter Medium" pitchFamily="34" charset="-120"/>
              </a:rPr>
              <a:t>The 9-stage pipeline with IQR filtering produces high-quality inputs that significantly improve model reliability.</a:t>
            </a:r>
            <a:endParaRPr lang="en-US" sz="1100" dirty="0">
              <a:latin typeface="DM Sans" pitchFamily="2" charset="0"/>
            </a:endParaRPr>
          </a:p>
        </p:txBody>
      </p:sp>
      <p:sp>
        <p:nvSpPr>
          <p:cNvPr id="33" name="Shape 4">
            <a:extLst>
              <a:ext uri="{FF2B5EF4-FFF2-40B4-BE49-F238E27FC236}">
                <a16:creationId xmlns:a16="http://schemas.microsoft.com/office/drawing/2014/main" id="{9CB3D59A-86FD-6079-FD33-19D0DD18A98D}"/>
              </a:ext>
            </a:extLst>
          </p:cNvPr>
          <p:cNvSpPr/>
          <p:nvPr/>
        </p:nvSpPr>
        <p:spPr>
          <a:xfrm>
            <a:off x="3283297" y="2083629"/>
            <a:ext cx="2622724" cy="1497285"/>
          </a:xfrm>
          <a:prstGeom prst="roundRect">
            <a:avLst>
              <a:gd name="adj" fmla="val 1420"/>
            </a:avLst>
          </a:prstGeom>
          <a:solidFill>
            <a:srgbClr val="F2EEEE"/>
          </a:solidFill>
          <a:ln/>
        </p:spPr>
      </p:sp>
      <p:sp>
        <p:nvSpPr>
          <p:cNvPr id="34" name="Text 5">
            <a:extLst>
              <a:ext uri="{FF2B5EF4-FFF2-40B4-BE49-F238E27FC236}">
                <a16:creationId xmlns:a16="http://schemas.microsoft.com/office/drawing/2014/main" id="{331448CB-00F5-1E71-D593-C9612E4ACF1D}"/>
              </a:ext>
            </a:extLst>
          </p:cNvPr>
          <p:cNvSpPr/>
          <p:nvPr/>
        </p:nvSpPr>
        <p:spPr>
          <a:xfrm>
            <a:off x="3425056" y="2225388"/>
            <a:ext cx="1772022" cy="221456"/>
          </a:xfrm>
          <a:prstGeom prst="rect">
            <a:avLst/>
          </a:prstGeom>
          <a:noFill/>
          <a:ln/>
        </p:spPr>
        <p:txBody>
          <a:bodyPr wrap="none" lIns="0" tIns="0" rIns="0" bIns="0" rtlCol="0" anchor="t"/>
          <a:lstStyle/>
          <a:p>
            <a:pPr marL="0" indent="0" algn="l">
              <a:lnSpc>
                <a:spcPts val="1700"/>
              </a:lnSpc>
              <a:buNone/>
            </a:pPr>
            <a:r>
              <a:rPr lang="en-US" sz="1350" dirty="0">
                <a:solidFill>
                  <a:srgbClr val="464646"/>
                </a:solidFill>
                <a:latin typeface="DM Sans" pitchFamily="2" charset="0"/>
                <a:ea typeface="DM Sans Semi Bold" pitchFamily="34" charset="-122"/>
                <a:cs typeface="DM Sans Semi Bold" pitchFamily="34" charset="-120"/>
              </a:rPr>
              <a:t>Scalable Build</a:t>
            </a:r>
            <a:endParaRPr lang="en-US" sz="1350" dirty="0">
              <a:latin typeface="DM Sans" pitchFamily="2" charset="0"/>
            </a:endParaRPr>
          </a:p>
        </p:txBody>
      </p:sp>
      <p:sp>
        <p:nvSpPr>
          <p:cNvPr id="35" name="Text 6">
            <a:extLst>
              <a:ext uri="{FF2B5EF4-FFF2-40B4-BE49-F238E27FC236}">
                <a16:creationId xmlns:a16="http://schemas.microsoft.com/office/drawing/2014/main" id="{59E78046-DAB3-95AF-B470-25CFBE4A9706}"/>
              </a:ext>
            </a:extLst>
          </p:cNvPr>
          <p:cNvSpPr/>
          <p:nvPr/>
        </p:nvSpPr>
        <p:spPr>
          <a:xfrm>
            <a:off x="3425056" y="2531899"/>
            <a:ext cx="2339206" cy="907256"/>
          </a:xfrm>
          <a:prstGeom prst="rect">
            <a:avLst/>
          </a:prstGeom>
          <a:noFill/>
          <a:ln/>
        </p:spPr>
        <p:txBody>
          <a:bodyPr wrap="square" lIns="0" tIns="0" rIns="0" bIns="0" rtlCol="0" anchor="t"/>
          <a:lstStyle/>
          <a:p>
            <a:pPr marL="0" indent="0" algn="l">
              <a:lnSpc>
                <a:spcPts val="1750"/>
              </a:lnSpc>
              <a:buNone/>
            </a:pPr>
            <a:r>
              <a:rPr lang="en-US" sz="1100" dirty="0">
                <a:solidFill>
                  <a:srgbClr val="464646"/>
                </a:solidFill>
                <a:latin typeface="DM Sans" pitchFamily="2" charset="0"/>
                <a:ea typeface="Inter Medium" pitchFamily="34" charset="-122"/>
                <a:cs typeface="Inter Medium" pitchFamily="34" charset="-120"/>
              </a:rPr>
              <a:t>Angular + .NET + Flask architecture supports independent scaling and safe ML updates without downtime.</a:t>
            </a:r>
            <a:endParaRPr lang="en-US" sz="1100" dirty="0">
              <a:latin typeface="DM Sans" pitchFamily="2" charset="0"/>
            </a:endParaRPr>
          </a:p>
        </p:txBody>
      </p:sp>
      <p:sp>
        <p:nvSpPr>
          <p:cNvPr id="36" name="Shape 7">
            <a:extLst>
              <a:ext uri="{FF2B5EF4-FFF2-40B4-BE49-F238E27FC236}">
                <a16:creationId xmlns:a16="http://schemas.microsoft.com/office/drawing/2014/main" id="{C3E27612-8B06-420F-F6A8-68A37C1A995B}"/>
              </a:ext>
            </a:extLst>
          </p:cNvPr>
          <p:cNvSpPr/>
          <p:nvPr/>
        </p:nvSpPr>
        <p:spPr>
          <a:xfrm>
            <a:off x="5991597" y="2081026"/>
            <a:ext cx="2622724" cy="1497285"/>
          </a:xfrm>
          <a:prstGeom prst="roundRect">
            <a:avLst>
              <a:gd name="adj" fmla="val 1420"/>
            </a:avLst>
          </a:prstGeom>
          <a:solidFill>
            <a:srgbClr val="F2EEEE"/>
          </a:solidFill>
          <a:ln/>
        </p:spPr>
      </p:sp>
      <p:sp>
        <p:nvSpPr>
          <p:cNvPr id="37" name="Text 8">
            <a:extLst>
              <a:ext uri="{FF2B5EF4-FFF2-40B4-BE49-F238E27FC236}">
                <a16:creationId xmlns:a16="http://schemas.microsoft.com/office/drawing/2014/main" id="{6409DDD1-C43D-B61C-B5CA-2552776CFDAE}"/>
              </a:ext>
            </a:extLst>
          </p:cNvPr>
          <p:cNvSpPr/>
          <p:nvPr/>
        </p:nvSpPr>
        <p:spPr>
          <a:xfrm>
            <a:off x="6133356" y="2222785"/>
            <a:ext cx="1929780" cy="221456"/>
          </a:xfrm>
          <a:prstGeom prst="rect">
            <a:avLst/>
          </a:prstGeom>
          <a:noFill/>
          <a:ln/>
        </p:spPr>
        <p:txBody>
          <a:bodyPr wrap="none" lIns="0" tIns="0" rIns="0" bIns="0" rtlCol="0" anchor="t"/>
          <a:lstStyle/>
          <a:p>
            <a:pPr marL="0" indent="0" algn="l">
              <a:lnSpc>
                <a:spcPts val="1700"/>
              </a:lnSpc>
              <a:buNone/>
            </a:pPr>
            <a:r>
              <a:rPr lang="en-US" sz="1350" dirty="0">
                <a:solidFill>
                  <a:srgbClr val="464646"/>
                </a:solidFill>
                <a:latin typeface="DM Sans" pitchFamily="2" charset="0"/>
                <a:ea typeface="DM Sans Semi Bold" pitchFamily="34" charset="-122"/>
                <a:cs typeface="DM Sans Semi Bold" pitchFamily="34" charset="-120"/>
              </a:rPr>
              <a:t>Unsupervised Success</a:t>
            </a:r>
            <a:endParaRPr lang="en-US" sz="1350" dirty="0">
              <a:latin typeface="DM Sans" pitchFamily="2" charset="0"/>
            </a:endParaRPr>
          </a:p>
        </p:txBody>
      </p:sp>
      <p:sp>
        <p:nvSpPr>
          <p:cNvPr id="38" name="Text 9">
            <a:extLst>
              <a:ext uri="{FF2B5EF4-FFF2-40B4-BE49-F238E27FC236}">
                <a16:creationId xmlns:a16="http://schemas.microsoft.com/office/drawing/2014/main" id="{3CA2C1A8-FF22-7879-4420-BC2D865110CE}"/>
              </a:ext>
            </a:extLst>
          </p:cNvPr>
          <p:cNvSpPr/>
          <p:nvPr/>
        </p:nvSpPr>
        <p:spPr>
          <a:xfrm>
            <a:off x="6133356" y="2529296"/>
            <a:ext cx="2339206" cy="907256"/>
          </a:xfrm>
          <a:prstGeom prst="rect">
            <a:avLst/>
          </a:prstGeom>
          <a:noFill/>
          <a:ln/>
        </p:spPr>
        <p:txBody>
          <a:bodyPr wrap="square" lIns="0" tIns="0" rIns="0" bIns="0" rtlCol="0" anchor="t"/>
          <a:lstStyle/>
          <a:p>
            <a:pPr marL="0" indent="0" algn="l">
              <a:lnSpc>
                <a:spcPts val="1750"/>
              </a:lnSpc>
              <a:buNone/>
            </a:pPr>
            <a:r>
              <a:rPr lang="en-US" sz="1100" dirty="0">
                <a:solidFill>
                  <a:srgbClr val="464646"/>
                </a:solidFill>
                <a:latin typeface="DM Sans" pitchFamily="2" charset="0"/>
                <a:ea typeface="Inter Medium" pitchFamily="34" charset="-122"/>
                <a:cs typeface="Inter Medium" pitchFamily="34" charset="-120"/>
              </a:rPr>
              <a:t>Isolation Forest achieved </a:t>
            </a:r>
            <a:r>
              <a:rPr lang="en-US" sz="1100" b="1" dirty="0">
                <a:solidFill>
                  <a:srgbClr val="464646"/>
                </a:solidFill>
                <a:latin typeface="DM Sans" pitchFamily="2" charset="0"/>
                <a:ea typeface="Inter Medium" pitchFamily="34" charset="-122"/>
                <a:cs typeface="Inter Medium" pitchFamily="34" charset="-120"/>
              </a:rPr>
              <a:t>92.81% accuracy</a:t>
            </a:r>
            <a:r>
              <a:rPr lang="en-US" sz="1100" dirty="0">
                <a:solidFill>
                  <a:srgbClr val="464646"/>
                </a:solidFill>
                <a:latin typeface="DM Sans" pitchFamily="2" charset="0"/>
                <a:ea typeface="Inter Medium" pitchFamily="34" charset="-122"/>
                <a:cs typeface="Inter Medium" pitchFamily="34" charset="-120"/>
              </a:rPr>
              <a:t>, demonstrating unsupervised methods can be effective in industrial IoT.</a:t>
            </a:r>
            <a:endParaRPr lang="en-US" sz="1100" dirty="0">
              <a:latin typeface="DM Sans" pitchFamily="2" charset="0"/>
            </a:endParaRPr>
          </a:p>
        </p:txBody>
      </p:sp>
      <p:sp>
        <p:nvSpPr>
          <p:cNvPr id="39" name="Text 10">
            <a:extLst>
              <a:ext uri="{FF2B5EF4-FFF2-40B4-BE49-F238E27FC236}">
                <a16:creationId xmlns:a16="http://schemas.microsoft.com/office/drawing/2014/main" id="{35C041CB-87AD-C275-798E-2880F1A2A8AC}"/>
              </a:ext>
            </a:extLst>
          </p:cNvPr>
          <p:cNvSpPr/>
          <p:nvPr/>
        </p:nvSpPr>
        <p:spPr>
          <a:xfrm>
            <a:off x="500807" y="3958381"/>
            <a:ext cx="8151763" cy="453628"/>
          </a:xfrm>
          <a:prstGeom prst="rect">
            <a:avLst/>
          </a:prstGeom>
          <a:noFill/>
          <a:ln/>
        </p:spPr>
        <p:txBody>
          <a:bodyPr wrap="square" lIns="0" tIns="0" rIns="0" bIns="0" rtlCol="0" anchor="t"/>
          <a:lstStyle/>
          <a:p>
            <a:pPr marL="0" indent="0" algn="l">
              <a:lnSpc>
                <a:spcPts val="1750"/>
              </a:lnSpc>
              <a:buNone/>
            </a:pPr>
            <a:r>
              <a:rPr lang="en-US" sz="1100" dirty="0">
                <a:solidFill>
                  <a:srgbClr val="464646"/>
                </a:solidFill>
                <a:latin typeface="DM Sans" pitchFamily="2" charset="0"/>
                <a:ea typeface="Inter Medium" pitchFamily="34" charset="-122"/>
                <a:cs typeface="Inter Medium" pitchFamily="34" charset="-120"/>
              </a:rPr>
              <a:t>Designed a production-grade anomaly detection system that cleans, enriches, and analyses industrial sensor data without labeled anomalies.</a:t>
            </a:r>
            <a:endParaRPr lang="en-US" sz="1100" dirty="0">
              <a:latin typeface="DM Sans"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20200D-F758-0E88-12D8-C2AE70C01466}"/>
              </a:ext>
            </a:extLst>
          </p:cNvPr>
          <p:cNvSpPr txBox="1"/>
          <p:nvPr/>
        </p:nvSpPr>
        <p:spPr>
          <a:xfrm>
            <a:off x="239481" y="1891193"/>
            <a:ext cx="8036827" cy="594778"/>
          </a:xfrm>
          <a:prstGeom prst="rect">
            <a:avLst/>
          </a:prstGeom>
          <a:noFill/>
        </p:spPr>
        <p:txBody>
          <a:bodyPr wrap="square">
            <a:spAutoFit/>
          </a:bodyPr>
          <a:lstStyle/>
          <a:p>
            <a:pPr marL="0" indent="0" algn="ctr">
              <a:lnSpc>
                <a:spcPts val="3650"/>
              </a:lnSpc>
              <a:buNone/>
            </a:pPr>
            <a:r>
              <a:rPr lang="en-US" sz="4000" b="1" dirty="0">
                <a:solidFill>
                  <a:schemeClr val="bg1"/>
                </a:solidFill>
                <a:latin typeface="DM Sans" pitchFamily="2" charset="0"/>
                <a:ea typeface="Space Grotesk Medium" pitchFamily="34" charset="-122"/>
                <a:cs typeface="Space Grotesk Medium" pitchFamily="34" charset="-120"/>
              </a:rPr>
              <a:t>Thank You</a:t>
            </a:r>
            <a:endParaRPr lang="en-US" sz="4000" b="1" dirty="0">
              <a:solidFill>
                <a:schemeClr val="bg1"/>
              </a:solidFill>
              <a:latin typeface="DM Sans" pitchFamily="2" charset="0"/>
            </a:endParaRPr>
          </a:p>
        </p:txBody>
      </p:sp>
      <p:sp>
        <p:nvSpPr>
          <p:cNvPr id="5" name="Text 20">
            <a:extLst>
              <a:ext uri="{FF2B5EF4-FFF2-40B4-BE49-F238E27FC236}">
                <a16:creationId xmlns:a16="http://schemas.microsoft.com/office/drawing/2014/main" id="{304A78D2-AC07-FFF1-9091-D52C0B33865E}"/>
              </a:ext>
            </a:extLst>
          </p:cNvPr>
          <p:cNvSpPr/>
          <p:nvPr/>
        </p:nvSpPr>
        <p:spPr>
          <a:xfrm>
            <a:off x="2233332" y="2664454"/>
            <a:ext cx="3943324" cy="250196"/>
          </a:xfrm>
          <a:prstGeom prst="rect">
            <a:avLst/>
          </a:prstGeom>
          <a:noFill/>
          <a:ln/>
        </p:spPr>
        <p:txBody>
          <a:bodyPr wrap="none" lIns="0" tIns="0" rIns="0" bIns="0" rtlCol="0" anchor="t"/>
          <a:lstStyle/>
          <a:p>
            <a:pPr marL="0" indent="0" algn="ctr">
              <a:lnSpc>
                <a:spcPts val="1100"/>
              </a:lnSpc>
              <a:buNone/>
            </a:pPr>
            <a:r>
              <a:rPr lang="en-US" sz="1400" dirty="0">
                <a:solidFill>
                  <a:schemeClr val="bg1"/>
                </a:solidFill>
                <a:latin typeface="DM Sans" pitchFamily="2" charset="0"/>
                <a:ea typeface="DM Sans" pitchFamily="34" charset="-122"/>
                <a:cs typeface="DM Sans" pitchFamily="34" charset="-120"/>
              </a:rPr>
              <a:t>Questions &amp; Discussion</a:t>
            </a:r>
            <a:endParaRPr lang="en-US" sz="1400" dirty="0">
              <a:solidFill>
                <a:schemeClr val="bg1"/>
              </a:solidFill>
              <a:latin typeface="DM Sans" pitchFamily="2" charset="0"/>
            </a:endParaRPr>
          </a:p>
        </p:txBody>
      </p:sp>
    </p:spTree>
    <p:extLst>
      <p:ext uri="{BB962C8B-B14F-4D97-AF65-F5344CB8AC3E}">
        <p14:creationId xmlns:p14="http://schemas.microsoft.com/office/powerpoint/2010/main" val="1214386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842</Words>
  <Application>Microsoft Office PowerPoint</Application>
  <PresentationFormat>On-screen Show (16:9)</PresentationFormat>
  <Paragraphs>114</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DM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khalifa shaon</dc:creator>
  <cp:lastModifiedBy>khalifa shaon</cp:lastModifiedBy>
  <cp:revision>5</cp:revision>
  <dcterms:created xsi:type="dcterms:W3CDTF">2026-05-06T19:33:36Z</dcterms:created>
  <dcterms:modified xsi:type="dcterms:W3CDTF">2026-05-07T15:37:18Z</dcterms:modified>
</cp:coreProperties>
</file>